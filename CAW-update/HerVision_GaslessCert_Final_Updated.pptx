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63" r:id="rId4"/>
    <p:sldId id="259" r:id="rId5"/>
    <p:sldId id="264" r:id="rId6"/>
    <p:sldId id="262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0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963020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 row: the technology stack, grouped by job. Bottom: the three working flows. Admin issues, student claims, verifier checks. The blockchain stores the proof (hash, owner, status), Firebase stores names and logs, and IPFS stores the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Top: who benefits and how. Middle: social, economic and environmental benefits. Bottom: the planned next features (LinkedIn sharing, user validation through faculty-controlled attendance, achievement-gated opportunities marketplace, college-wise admin separation).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_M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43167" y="185166"/>
            <a:ext cx="2100605" cy="72009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raison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274320"/>
            <a:ext cx="1920240" cy="562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93002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5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3.png"/><Relationship Id="rId7" Type="http://schemas.openxmlformats.org/officeDocument/2006/relationships/hyperlink" Target="https://arxiv.org/abs/2108.04125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docs.base.org" TargetMode="External"/><Relationship Id="rId11" Type="http://schemas.openxmlformats.org/officeDocument/2006/relationships/hyperlink" Target="https://doi.org/10.23851/mjs.v35i1.1461" TargetMode="External"/><Relationship Id="rId5" Type="http://schemas.openxmlformats.org/officeDocument/2006/relationships/hyperlink" Target="https://universalgasframework.com" TargetMode="External"/><Relationship Id="rId10" Type="http://schemas.openxmlformats.org/officeDocument/2006/relationships/hyperlink" Target="https://docs.openzeppelin.com/contracts" TargetMode="External"/><Relationship Id="rId4" Type="http://schemas.openxmlformats.org/officeDocument/2006/relationships/hyperlink" Target="https://eips.ethereum.org/EIPS/eip-5192" TargetMode="External"/><Relationship Id="rId9" Type="http://schemas.openxmlformats.org/officeDocument/2006/relationships/hyperlink" Target="https://docs.ipfs.tech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73736"/>
          </a:xfrm>
          <a:prstGeom prst="rect">
            <a:avLst/>
          </a:prstGeom>
          <a:solidFill>
            <a:srgbClr val="491776"/>
          </a:solidFill>
          <a:ln w="12700">
            <a:solidFill>
              <a:srgbClr val="49177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91456"/>
            <a:ext cx="9144000" cy="352044"/>
          </a:xfrm>
          <a:prstGeom prst="rect">
            <a:avLst/>
          </a:prstGeom>
          <a:solidFill>
            <a:srgbClr val="491776"/>
          </a:solidFill>
          <a:ln w="12700">
            <a:solidFill>
              <a:srgbClr val="49177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0" y="0"/>
            <a:ext cx="457200" cy="411480"/>
          </a:xfrm>
          <a:prstGeom prst="line">
            <a:avLst/>
          </a:prstGeom>
          <a:noFill/>
          <a:ln w="38100">
            <a:solidFill>
              <a:srgbClr val="C9A06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4645152"/>
            <a:ext cx="1554480" cy="0"/>
          </a:xfrm>
          <a:prstGeom prst="line">
            <a:avLst/>
          </a:prstGeom>
          <a:noFill/>
          <a:ln w="12700">
            <a:solidFill>
              <a:srgbClr val="C9A063"/>
            </a:solidFill>
            <a:prstDash val="solid"/>
          </a:ln>
        </p:spPr>
      </p:sp>
      <p:pic>
        <p:nvPicPr>
          <p:cNvPr id="6" name="Image 0" descr="logo_g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228600"/>
            <a:ext cx="1874520" cy="676656"/>
          </a:xfrm>
          <a:prstGeom prst="rect">
            <a:avLst/>
          </a:prstGeom>
        </p:spPr>
      </p:pic>
      <p:pic>
        <p:nvPicPr>
          <p:cNvPr id="7" name="Image 1" descr="logo_i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228600"/>
            <a:ext cx="1097280" cy="76809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463040" y="201168"/>
            <a:ext cx="557784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222222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HACK2IGNITE 2026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5"/>
          <p:cNvSpPr txBox="1"/>
          <p:nvPr/>
        </p:nvSpPr>
        <p:spPr>
          <a:xfrm>
            <a:off x="914400" y="1051560"/>
            <a:ext cx="73152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2222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Title page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6"/>
          <p:cNvSpPr/>
          <p:nvPr/>
        </p:nvSpPr>
        <p:spPr>
          <a:xfrm>
            <a:off x="457200" y="1600200"/>
            <a:ext cx="2011680" cy="411480"/>
          </a:xfrm>
          <a:prstGeom prst="roundRect">
            <a:avLst>
              <a:gd name="adj" fmla="val 17778"/>
            </a:avLst>
          </a:prstGeom>
          <a:solidFill>
            <a:srgbClr val="491776"/>
          </a:solidFill>
          <a:ln w="6350">
            <a:solidFill>
              <a:srgbClr val="491776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457200" y="1600200"/>
            <a:ext cx="201168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Team name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2560320" y="1600200"/>
            <a:ext cx="6126480" cy="411480"/>
          </a:xfrm>
          <a:prstGeom prst="roundRect">
            <a:avLst>
              <a:gd name="adj" fmla="val 17778"/>
            </a:avLst>
          </a:prstGeom>
          <a:solidFill>
            <a:srgbClr val="F3EDF8"/>
          </a:solidFill>
          <a:ln w="6350">
            <a:solidFill>
              <a:srgbClr val="F3EDF8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2651760" y="1600200"/>
            <a:ext cx="59436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HerVision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457200" y="2103120"/>
            <a:ext cx="2011680" cy="411480"/>
          </a:xfrm>
          <a:prstGeom prst="roundRect">
            <a:avLst>
              <a:gd name="adj" fmla="val 17778"/>
            </a:avLst>
          </a:prstGeom>
          <a:solidFill>
            <a:srgbClr val="491776"/>
          </a:solidFill>
          <a:ln w="6350">
            <a:solidFill>
              <a:srgbClr val="491776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457200" y="2103120"/>
            <a:ext cx="201168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Problem statement ID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2"/>
          <p:cNvSpPr/>
          <p:nvPr/>
        </p:nvSpPr>
        <p:spPr>
          <a:xfrm>
            <a:off x="2560320" y="2103120"/>
            <a:ext cx="6126480" cy="411480"/>
          </a:xfrm>
          <a:prstGeom prst="roundRect">
            <a:avLst>
              <a:gd name="adj" fmla="val 17778"/>
            </a:avLst>
          </a:prstGeom>
          <a:solidFill>
            <a:srgbClr val="F3EDF8"/>
          </a:solidFill>
          <a:ln w="6350">
            <a:solidFill>
              <a:srgbClr val="F3EDF8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2651760" y="2103120"/>
            <a:ext cx="59436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WB-01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4"/>
          <p:cNvSpPr/>
          <p:nvPr/>
        </p:nvSpPr>
        <p:spPr>
          <a:xfrm>
            <a:off x="457200" y="2606040"/>
            <a:ext cx="2011680" cy="411480"/>
          </a:xfrm>
          <a:prstGeom prst="roundRect">
            <a:avLst>
              <a:gd name="adj" fmla="val 17778"/>
            </a:avLst>
          </a:prstGeom>
          <a:solidFill>
            <a:srgbClr val="491776"/>
          </a:solidFill>
          <a:ln w="6350">
            <a:solidFill>
              <a:srgbClr val="491776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457200" y="2606040"/>
            <a:ext cx="201168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Institution name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6"/>
          <p:cNvSpPr/>
          <p:nvPr/>
        </p:nvSpPr>
        <p:spPr>
          <a:xfrm>
            <a:off x="2560320" y="2606040"/>
            <a:ext cx="6126480" cy="411480"/>
          </a:xfrm>
          <a:prstGeom prst="roundRect">
            <a:avLst>
              <a:gd name="adj" fmla="val 17778"/>
            </a:avLst>
          </a:prstGeom>
          <a:solidFill>
            <a:srgbClr val="F3EDF8"/>
          </a:solidFill>
          <a:ln w="6350">
            <a:solidFill>
              <a:srgbClr val="F3EDF8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2651760" y="2606040"/>
            <a:ext cx="59436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Shri Vile Parle Kelwani Mandal’s Institute of Technology, Dhule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8"/>
          <p:cNvSpPr txBox="1"/>
          <p:nvPr/>
        </p:nvSpPr>
        <p:spPr>
          <a:xfrm>
            <a:off x="457200" y="3154680"/>
            <a:ext cx="365760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9177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Team members: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19"/>
          <p:cNvSpPr/>
          <p:nvPr/>
        </p:nvSpPr>
        <p:spPr>
          <a:xfrm>
            <a:off x="457200" y="352044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F3EDF8"/>
          </a:solidFill>
          <a:ln w="6350">
            <a:solidFill>
              <a:srgbClr val="F3EDF8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594360" y="3703320"/>
            <a:ext cx="502920" cy="502920"/>
          </a:xfrm>
          <a:prstGeom prst="ellipse">
            <a:avLst/>
          </a:prstGeom>
          <a:solidFill>
            <a:srgbClr val="491776"/>
          </a:solidFill>
          <a:ln w="12700">
            <a:solidFill>
              <a:srgbClr val="491776"/>
            </a:solidFill>
            <a:prstDash val="solid"/>
          </a:ln>
        </p:spPr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088" y="3813048"/>
            <a:ext cx="283464" cy="283464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1188720" y="3566160"/>
            <a:ext cx="187452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1. Pranjal Rajendra Bagad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22"/>
          <p:cNvSpPr/>
          <p:nvPr/>
        </p:nvSpPr>
        <p:spPr>
          <a:xfrm>
            <a:off x="3246120" y="352044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F3EDF8"/>
          </a:solidFill>
          <a:ln w="6350">
            <a:solidFill>
              <a:srgbClr val="F3EDF8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3383280" y="3703320"/>
            <a:ext cx="502920" cy="502920"/>
          </a:xfrm>
          <a:prstGeom prst="ellipse">
            <a:avLst/>
          </a:prstGeom>
          <a:solidFill>
            <a:srgbClr val="491776"/>
          </a:solidFill>
          <a:ln w="12700">
            <a:solidFill>
              <a:srgbClr val="491776"/>
            </a:solidFill>
            <a:prstDash val="solid"/>
          </a:ln>
        </p:spPr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93008" y="3813048"/>
            <a:ext cx="283464" cy="283464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3977640" y="3566160"/>
            <a:ext cx="187452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2. Tejaswini Lotan Patil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Shape 25"/>
          <p:cNvSpPr/>
          <p:nvPr/>
        </p:nvSpPr>
        <p:spPr>
          <a:xfrm>
            <a:off x="6035040" y="352044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F3EDF8"/>
          </a:solidFill>
          <a:ln w="6350">
            <a:solidFill>
              <a:srgbClr val="F3EDF8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6172200" y="3703320"/>
            <a:ext cx="502920" cy="502920"/>
          </a:xfrm>
          <a:prstGeom prst="ellipse">
            <a:avLst/>
          </a:prstGeom>
          <a:solidFill>
            <a:srgbClr val="491776"/>
          </a:solidFill>
          <a:ln w="12700">
            <a:solidFill>
              <a:srgbClr val="491776"/>
            </a:solidFill>
            <a:prstDash val="solid"/>
          </a:ln>
        </p:spPr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1928" y="3813048"/>
            <a:ext cx="283464" cy="283464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6766560" y="3566160"/>
            <a:ext cx="187452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3. Pratiksha Rajmal Shimpi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73736"/>
          </a:xfrm>
          <a:prstGeom prst="rect">
            <a:avLst/>
          </a:prstGeom>
          <a:solidFill>
            <a:srgbClr val="491776"/>
          </a:solidFill>
          <a:ln w="12700">
            <a:solidFill>
              <a:srgbClr val="49177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91456"/>
            <a:ext cx="9144000" cy="352044"/>
          </a:xfrm>
          <a:prstGeom prst="rect">
            <a:avLst/>
          </a:prstGeom>
          <a:solidFill>
            <a:srgbClr val="491776"/>
          </a:solidFill>
          <a:ln w="12700">
            <a:solidFill>
              <a:srgbClr val="49177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0" y="0"/>
            <a:ext cx="457200" cy="411480"/>
          </a:xfrm>
          <a:prstGeom prst="line">
            <a:avLst/>
          </a:prstGeom>
          <a:noFill/>
          <a:ln w="38100">
            <a:solidFill>
              <a:srgbClr val="C9A06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4645152"/>
            <a:ext cx="1554480" cy="0"/>
          </a:xfrm>
          <a:prstGeom prst="line">
            <a:avLst/>
          </a:prstGeom>
          <a:noFill/>
          <a:ln w="12700">
            <a:solidFill>
              <a:srgbClr val="C9A063"/>
            </a:solidFill>
            <a:prstDash val="solid"/>
          </a:ln>
        </p:spPr>
      </p:sp>
      <p:pic>
        <p:nvPicPr>
          <p:cNvPr id="6" name="Image 0" descr="logo_g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228600"/>
            <a:ext cx="1874520" cy="6766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201168"/>
            <a:ext cx="658368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22222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IDEA TITLE</a:t>
            </a:r>
            <a:endParaRPr lang="en-US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365760" y="960120"/>
            <a:ext cx="8412480" cy="347472"/>
          </a:xfrm>
          <a:prstGeom prst="roundRect">
            <a:avLst>
              <a:gd name="adj" fmla="val 21053"/>
            </a:avLst>
          </a:prstGeom>
          <a:solidFill>
            <a:srgbClr val="491776"/>
          </a:solidFill>
          <a:ln w="6350">
            <a:solidFill>
              <a:srgbClr val="49177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65760" y="960120"/>
            <a:ext cx="841248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GaslessCert – Blockchain-Based Certificate Verification with Gasless Student Claiming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 txBox="1"/>
          <p:nvPr/>
        </p:nvSpPr>
        <p:spPr>
          <a:xfrm>
            <a:off x="365760" y="1371600"/>
            <a:ext cx="4114800" cy="274320"/>
          </a:xfrm>
          <a:prstGeom prst="rect">
            <a:avLst/>
          </a:prstGeom>
          <a:solidFill>
            <a:srgbClr val="B3372B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Problem identified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 txBox="1"/>
          <p:nvPr/>
        </p:nvSpPr>
        <p:spPr>
          <a:xfrm>
            <a:off x="4663440" y="1371600"/>
            <a:ext cx="4114800" cy="274320"/>
          </a:xfrm>
          <a:prstGeom prst="rect">
            <a:avLst/>
          </a:prstGeom>
          <a:solidFill>
            <a:srgbClr val="2E7D32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Proposed Solution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365760" y="1682496"/>
            <a:ext cx="4114800" cy="1280160"/>
          </a:xfrm>
          <a:prstGeom prst="roundRect">
            <a:avLst>
              <a:gd name="adj" fmla="val 5714"/>
            </a:avLst>
          </a:prstGeom>
          <a:solidFill>
            <a:srgbClr val="FBEDEB"/>
          </a:solidFill>
          <a:ln w="6350">
            <a:solidFill>
              <a:srgbClr val="FBEDE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663440" y="1682496"/>
            <a:ext cx="4114800" cy="1280160"/>
          </a:xfrm>
          <a:prstGeom prst="roundRect">
            <a:avLst>
              <a:gd name="adj" fmla="val 5714"/>
            </a:avLst>
          </a:prstGeom>
          <a:solidFill>
            <a:srgbClr val="E8F3E9"/>
          </a:solidFill>
          <a:ln w="6350">
            <a:solidFill>
              <a:srgbClr val="E8F3E9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783080"/>
            <a:ext cx="182880" cy="18288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713232" y="1737360"/>
            <a:ext cx="37033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22222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Fake degrees / certificates: </a:t>
            </a:r>
            <a:r>
              <a:rPr lang="en-US" sz="850" dirty="0">
                <a:solidFill>
                  <a:srgbClr val="222222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forged credentials are easy to produce and hard to detect.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2084832"/>
            <a:ext cx="182880" cy="18288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713232" y="2039112"/>
            <a:ext cx="37033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22222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Manual verification: </a:t>
            </a:r>
            <a:r>
              <a:rPr lang="en-US" sz="850" dirty="0">
                <a:solidFill>
                  <a:srgbClr val="222222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employers must call / email institutions for every check.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2386584"/>
            <a:ext cx="182880" cy="18288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13232" y="2340864"/>
            <a:ext cx="37033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22222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Slow, costly, trust-dependent: </a:t>
            </a:r>
            <a:r>
              <a:rPr lang="en-US" sz="850" dirty="0">
                <a:solidFill>
                  <a:srgbClr val="222222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depends on institution response time and goodwill.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2688336"/>
            <a:ext cx="182880" cy="18288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713232" y="2642616"/>
            <a:ext cx="37033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22222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Gas fees block adoption: </a:t>
            </a:r>
            <a:r>
              <a:rPr lang="en-US" sz="850" dirty="0">
                <a:solidFill>
                  <a:srgbClr val="222222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students and institutions must hold and fund crypto wallets.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54880" y="1773936"/>
            <a:ext cx="173736" cy="173736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5001768" y="1737360"/>
            <a:ext cx="37307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22222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Colleges issue certificates as soulbound NFTs; the file’s SHA-256 hash is stored on-chain.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54880" y="2018995"/>
            <a:ext cx="173736" cy="173736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5001768" y="1982419"/>
            <a:ext cx="37307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22222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Anyone verifies in seconds: upload the file, scan the QR or enter the ID.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54880" y="2264054"/>
            <a:ext cx="173736" cy="173736"/>
          </a:xfrm>
          <a:prstGeom prst="rect">
            <a:avLst/>
          </a:prstGeom>
        </p:spPr>
      </p:pic>
      <p:sp>
        <p:nvSpPr>
          <p:cNvPr id="27" name="Text 17"/>
          <p:cNvSpPr txBox="1"/>
          <p:nvPr/>
        </p:nvSpPr>
        <p:spPr>
          <a:xfrm>
            <a:off x="5001768" y="2227478"/>
            <a:ext cx="37307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22222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Makes forged or edited certificates instantly detectable.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8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54880" y="2509114"/>
            <a:ext cx="173736" cy="173736"/>
          </a:xfrm>
          <a:prstGeom prst="rect">
            <a:avLst/>
          </a:prstGeom>
        </p:spPr>
      </p:pic>
      <p:sp>
        <p:nvSpPr>
          <p:cNvPr id="29" name="Text 18"/>
          <p:cNvSpPr txBox="1"/>
          <p:nvPr/>
        </p:nvSpPr>
        <p:spPr>
          <a:xfrm>
            <a:off x="5001768" y="2472538"/>
            <a:ext cx="37307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22222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No calls or emails to the college; revoked certificates show as Revoked.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54880" y="2754173"/>
            <a:ext cx="173736" cy="173736"/>
          </a:xfrm>
          <a:prstGeom prst="rect">
            <a:avLst/>
          </a:prstGeom>
        </p:spPr>
      </p:pic>
      <p:sp>
        <p:nvSpPr>
          <p:cNvPr id="31" name="Text 19"/>
          <p:cNvSpPr txBox="1"/>
          <p:nvPr/>
        </p:nvSpPr>
        <p:spPr>
          <a:xfrm>
            <a:off x="5001768" y="2717597"/>
            <a:ext cx="37307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22222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Students claim with no ETH; verification is free for employers.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Shape 20"/>
          <p:cNvSpPr/>
          <p:nvPr/>
        </p:nvSpPr>
        <p:spPr>
          <a:xfrm>
            <a:off x="365760" y="3035808"/>
            <a:ext cx="8412480" cy="1609344"/>
          </a:xfrm>
          <a:prstGeom prst="roundRect">
            <a:avLst>
              <a:gd name="adj" fmla="val 4545"/>
            </a:avLst>
          </a:prstGeom>
          <a:solidFill>
            <a:srgbClr val="F3EDF8"/>
          </a:solidFill>
          <a:ln w="6350">
            <a:solidFill>
              <a:srgbClr val="F3EDF8"/>
            </a:solidFill>
            <a:prstDash val="solid"/>
          </a:ln>
        </p:spPr>
      </p:sp>
      <p:sp>
        <p:nvSpPr>
          <p:cNvPr id="33" name="Text 21"/>
          <p:cNvSpPr txBox="1"/>
          <p:nvPr/>
        </p:nvSpPr>
        <p:spPr>
          <a:xfrm>
            <a:off x="457200" y="3044952"/>
            <a:ext cx="548640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91776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Innovation / Uniqueness — Gasless Transactions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22"/>
          <p:cNvSpPr txBox="1"/>
          <p:nvPr/>
        </p:nvSpPr>
        <p:spPr>
          <a:xfrm>
            <a:off x="457200" y="3310128"/>
            <a:ext cx="8229600" cy="4754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222222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• College admin signs a free off-chain voucher; no gas is spent at signing.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850" dirty="0">
                <a:solidFill>
                  <a:srgbClr val="222222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• Student claims through UGF (Universal Gas Framework); the contract checks the voucher, then mints.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Shape 23"/>
          <p:cNvSpPr/>
          <p:nvPr/>
        </p:nvSpPr>
        <p:spPr>
          <a:xfrm>
            <a:off x="548640" y="3813048"/>
            <a:ext cx="2331720" cy="411480"/>
          </a:xfrm>
          <a:prstGeom prst="roundRect">
            <a:avLst>
              <a:gd name="adj" fmla="val 17778"/>
            </a:avLst>
          </a:prstGeom>
          <a:solidFill>
            <a:srgbClr val="491776"/>
          </a:solidFill>
          <a:ln w="6350">
            <a:solidFill>
              <a:srgbClr val="491776"/>
            </a:solidFill>
            <a:prstDash val="solid"/>
          </a:ln>
        </p:spPr>
      </p:sp>
      <p:sp>
        <p:nvSpPr>
          <p:cNvPr id="36" name="Text 24"/>
          <p:cNvSpPr txBox="1"/>
          <p:nvPr/>
        </p:nvSpPr>
        <p:spPr>
          <a:xfrm>
            <a:off x="548640" y="3813048"/>
            <a:ext cx="233172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College admin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signs a free voucher (signature)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Shape 25"/>
          <p:cNvSpPr/>
          <p:nvPr/>
        </p:nvSpPr>
        <p:spPr>
          <a:xfrm>
            <a:off x="2926080" y="3904488"/>
            <a:ext cx="365760" cy="228600"/>
          </a:xfrm>
          <a:prstGeom prst="rightArrow">
            <a:avLst/>
          </a:prstGeom>
          <a:solidFill>
            <a:srgbClr val="C9A063"/>
          </a:solidFill>
          <a:ln w="12700">
            <a:solidFill>
              <a:srgbClr val="C9A063"/>
            </a:solidFill>
            <a:prstDash val="solid"/>
          </a:ln>
        </p:spPr>
      </p:sp>
      <p:sp>
        <p:nvSpPr>
          <p:cNvPr id="38" name="Shape 26"/>
          <p:cNvSpPr/>
          <p:nvPr/>
        </p:nvSpPr>
        <p:spPr>
          <a:xfrm>
            <a:off x="3337560" y="3813048"/>
            <a:ext cx="2331720" cy="411480"/>
          </a:xfrm>
          <a:prstGeom prst="roundRect">
            <a:avLst>
              <a:gd name="adj" fmla="val 17778"/>
            </a:avLst>
          </a:prstGeom>
          <a:solidFill>
            <a:srgbClr val="8A6A2F"/>
          </a:solidFill>
          <a:ln w="6350">
            <a:solidFill>
              <a:srgbClr val="8A6A2F"/>
            </a:solidFill>
            <a:prstDash val="solid"/>
          </a:ln>
        </p:spPr>
      </p:sp>
      <p:sp>
        <p:nvSpPr>
          <p:cNvPr id="39" name="Text 27"/>
          <p:cNvSpPr txBox="1"/>
          <p:nvPr/>
        </p:nvSpPr>
        <p:spPr>
          <a:xfrm>
            <a:off x="3337560" y="3813048"/>
            <a:ext cx="233172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Student + UGF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claims without holding ETH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Shape 28"/>
          <p:cNvSpPr/>
          <p:nvPr/>
        </p:nvSpPr>
        <p:spPr>
          <a:xfrm>
            <a:off x="5715000" y="3904488"/>
            <a:ext cx="365760" cy="228600"/>
          </a:xfrm>
          <a:prstGeom prst="rightArrow">
            <a:avLst/>
          </a:prstGeom>
          <a:solidFill>
            <a:srgbClr val="C9A063"/>
          </a:solidFill>
          <a:ln w="12700">
            <a:solidFill>
              <a:srgbClr val="C9A063"/>
            </a:solidFill>
            <a:prstDash val="solid"/>
          </a:ln>
        </p:spPr>
      </p:sp>
      <p:sp>
        <p:nvSpPr>
          <p:cNvPr id="41" name="Shape 29"/>
          <p:cNvSpPr/>
          <p:nvPr/>
        </p:nvSpPr>
        <p:spPr>
          <a:xfrm>
            <a:off x="6126480" y="3813048"/>
            <a:ext cx="2331720" cy="411480"/>
          </a:xfrm>
          <a:prstGeom prst="roundRect">
            <a:avLst>
              <a:gd name="adj" fmla="val 17778"/>
            </a:avLst>
          </a:prstGeom>
          <a:solidFill>
            <a:srgbClr val="491776"/>
          </a:solidFill>
          <a:ln w="6350">
            <a:solidFill>
              <a:srgbClr val="491776"/>
            </a:solidFill>
            <a:prstDash val="solid"/>
          </a:ln>
        </p:spPr>
      </p:sp>
      <p:sp>
        <p:nvSpPr>
          <p:cNvPr id="42" name="Text 30"/>
          <p:cNvSpPr txBox="1"/>
          <p:nvPr/>
        </p:nvSpPr>
        <p:spPr>
          <a:xfrm>
            <a:off x="6126480" y="3813048"/>
            <a:ext cx="233172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Base </a:t>
            </a:r>
            <a:r>
              <a:rPr lang="en-US" sz="1000" b="1" dirty="0" err="1">
                <a:solidFill>
                  <a:srgbClr val="FFFFFF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Sepolia</a:t>
            </a:r>
            <a:r>
              <a:rPr lang="en-US" sz="1000" b="1">
                <a:solidFill>
                  <a:srgbClr val="FFFFFF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 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contract verifies voucher, stores hash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 31"/>
          <p:cNvSpPr txBox="1"/>
          <p:nvPr/>
        </p:nvSpPr>
        <p:spPr>
          <a:xfrm>
            <a:off x="457200" y="4251960"/>
            <a:ext cx="82296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22222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• Verification is free: no wallet and no fee for employers.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850" dirty="0">
                <a:solidFill>
                  <a:srgbClr val="222222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• Students need a wallet but no ETH; admin pays gas for bulk issue and revoke.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60604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5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TECHNICAL APPROACH</a:t>
            </a:r>
            <a:endParaRPr lang="en-US" sz="2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38912" y="905256"/>
            <a:ext cx="827074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25" b="1" dirty="0">
                <a:solidFill>
                  <a:srgbClr val="47187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Technologies to be used (e.g. programming languages, frameworks, hardware)</a:t>
            </a:r>
            <a:endParaRPr lang="en-US" sz="112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38912" y="1200150"/>
            <a:ext cx="1577340" cy="1131570"/>
          </a:xfrm>
          <a:prstGeom prst="roundRect">
            <a:avLst>
              <a:gd name="adj" fmla="val 4848"/>
            </a:avLst>
          </a:prstGeom>
          <a:solidFill>
            <a:srgbClr val="F5F0FA"/>
          </a:solidFill>
          <a:ln w="9525">
            <a:solidFill>
              <a:srgbClr val="E2D6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1782" y="1289304"/>
            <a:ext cx="315468" cy="315468"/>
          </a:xfrm>
          <a:prstGeom prst="ellipse">
            <a:avLst/>
          </a:prstGeom>
          <a:solidFill>
            <a:srgbClr val="471876"/>
          </a:solidFill>
          <a:ln w="12700">
            <a:solidFill>
              <a:srgbClr val="471876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04" y="1371326"/>
            <a:ext cx="151425" cy="15142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05256" y="1289304"/>
            <a:ext cx="1042416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38" b="1" dirty="0">
                <a:solidFill>
                  <a:srgbClr val="47187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Frontend</a:t>
            </a:r>
            <a:endParaRPr lang="en-US" sz="93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541782" y="1693926"/>
            <a:ext cx="1392174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7175" indent="-257175">
              <a:spcAft>
                <a:spcPts val="150"/>
              </a:spcAft>
              <a:buSzPct val="100000"/>
              <a:buChar char="•"/>
            </a:pPr>
            <a:r>
              <a:rPr lang="en-US" sz="788" dirty="0">
                <a:solidFill>
                  <a:srgbClr val="2B2B2B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React 18 + Vite</a:t>
            </a:r>
            <a:endParaRPr lang="en-US" sz="78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7175" indent="-257175">
              <a:spcAft>
                <a:spcPts val="150"/>
              </a:spcAft>
              <a:buSzPct val="100000"/>
              <a:buChar char="•"/>
            </a:pPr>
            <a:r>
              <a:rPr lang="en-US" sz="788" dirty="0">
                <a:solidFill>
                  <a:srgbClr val="2B2B2B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Tailwind CSS</a:t>
            </a:r>
            <a:endParaRPr lang="en-US" sz="78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7175" indent="-257175">
              <a:spcAft>
                <a:spcPts val="150"/>
              </a:spcAft>
              <a:buSzPct val="100000"/>
              <a:buChar char="•"/>
            </a:pPr>
            <a:r>
              <a:rPr lang="en-US" sz="788" dirty="0">
                <a:solidFill>
                  <a:srgbClr val="2B2B2B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Framer Motion</a:t>
            </a:r>
            <a:endParaRPr lang="en-US" sz="78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2112264" y="1200150"/>
            <a:ext cx="1577340" cy="1131570"/>
          </a:xfrm>
          <a:prstGeom prst="roundRect">
            <a:avLst>
              <a:gd name="adj" fmla="val 4848"/>
            </a:avLst>
          </a:prstGeom>
          <a:solidFill>
            <a:srgbClr val="F5F0FA"/>
          </a:solidFill>
          <a:ln w="9525">
            <a:solidFill>
              <a:srgbClr val="E2D6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215134" y="1289304"/>
            <a:ext cx="315468" cy="315468"/>
          </a:xfrm>
          <a:prstGeom prst="ellipse">
            <a:avLst/>
          </a:prstGeom>
          <a:solidFill>
            <a:srgbClr val="471876"/>
          </a:solidFill>
          <a:ln w="12700">
            <a:solidFill>
              <a:srgbClr val="471876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97156" y="1371326"/>
            <a:ext cx="151425" cy="15142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578608" y="1289304"/>
            <a:ext cx="1042416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38" b="1" dirty="0">
                <a:solidFill>
                  <a:srgbClr val="47187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Smart contract</a:t>
            </a:r>
            <a:endParaRPr lang="en-US" sz="93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9"/>
          <p:cNvSpPr txBox="1"/>
          <p:nvPr/>
        </p:nvSpPr>
        <p:spPr>
          <a:xfrm>
            <a:off x="2215134" y="1693926"/>
            <a:ext cx="1392174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7175" indent="-257175">
              <a:spcAft>
                <a:spcPts val="150"/>
              </a:spcAft>
              <a:buSzPct val="100000"/>
              <a:buChar char="•"/>
            </a:pPr>
            <a:r>
              <a:rPr lang="en-US" sz="788" dirty="0">
                <a:solidFill>
                  <a:srgbClr val="2B2B2B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Solidity 0.8.24</a:t>
            </a:r>
            <a:endParaRPr lang="en-US" sz="78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7175" indent="-257175">
              <a:spcAft>
                <a:spcPts val="150"/>
              </a:spcAft>
              <a:buSzPct val="100000"/>
              <a:buChar char="•"/>
            </a:pPr>
            <a:r>
              <a:rPr lang="en-US" sz="788" dirty="0">
                <a:solidFill>
                  <a:srgbClr val="2B2B2B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OpenZeppelin ERC-721 + ERC-5192 + AccessControl</a:t>
            </a:r>
            <a:endParaRPr lang="en-US" sz="78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7175" indent="-257175">
              <a:spcAft>
                <a:spcPts val="150"/>
              </a:spcAft>
              <a:buSzPct val="100000"/>
              <a:buChar char="•"/>
            </a:pPr>
            <a:r>
              <a:rPr lang="en-US" sz="788" dirty="0">
                <a:solidFill>
                  <a:srgbClr val="2B2B2B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Hardhat (build, test)</a:t>
            </a:r>
            <a:endParaRPr lang="en-US" sz="78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3785616" y="1200150"/>
            <a:ext cx="1577340" cy="1131570"/>
          </a:xfrm>
          <a:prstGeom prst="roundRect">
            <a:avLst>
              <a:gd name="adj" fmla="val 4848"/>
            </a:avLst>
          </a:prstGeom>
          <a:solidFill>
            <a:srgbClr val="F5F0FA"/>
          </a:solidFill>
          <a:ln w="9525">
            <a:solidFill>
              <a:srgbClr val="E2D6F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3888486" y="1289304"/>
            <a:ext cx="315468" cy="315468"/>
          </a:xfrm>
          <a:prstGeom prst="ellipse">
            <a:avLst/>
          </a:prstGeom>
          <a:solidFill>
            <a:srgbClr val="471876"/>
          </a:solidFill>
          <a:ln w="12700">
            <a:solidFill>
              <a:srgbClr val="471876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70508" y="1371326"/>
            <a:ext cx="151425" cy="151425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4251960" y="1289304"/>
            <a:ext cx="1042416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38" b="1" dirty="0">
                <a:solidFill>
                  <a:srgbClr val="47187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Wallet and gasless</a:t>
            </a:r>
            <a:endParaRPr lang="en-US" sz="93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3"/>
          <p:cNvSpPr txBox="1"/>
          <p:nvPr/>
        </p:nvSpPr>
        <p:spPr>
          <a:xfrm>
            <a:off x="3888486" y="1693926"/>
            <a:ext cx="1392174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7175" indent="-257175">
              <a:spcAft>
                <a:spcPts val="150"/>
              </a:spcAft>
              <a:buSzPct val="100000"/>
              <a:buChar char="•"/>
            </a:pPr>
            <a:r>
              <a:rPr lang="en-US" sz="788" dirty="0">
                <a:solidFill>
                  <a:srgbClr val="2B2B2B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MetaMask + ethers.js v6</a:t>
            </a:r>
            <a:endParaRPr lang="en-US" sz="78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7175" indent="-257175">
              <a:spcAft>
                <a:spcPts val="150"/>
              </a:spcAft>
              <a:buSzPct val="100000"/>
              <a:buChar char="•"/>
            </a:pPr>
            <a:r>
              <a:rPr lang="en-US" sz="788" dirty="0">
                <a:solidFill>
                  <a:srgbClr val="2B2B2B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UGF gasless payments</a:t>
            </a:r>
            <a:endParaRPr lang="en-US" sz="78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7175" indent="-257175">
              <a:spcAft>
                <a:spcPts val="150"/>
              </a:spcAft>
              <a:buSzPct val="100000"/>
              <a:buChar char="•"/>
            </a:pPr>
            <a:r>
              <a:rPr lang="en-US" sz="788" dirty="0">
                <a:solidFill>
                  <a:srgbClr val="2B2B2B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Base Sepolia network</a:t>
            </a:r>
            <a:endParaRPr lang="en-US" sz="78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4"/>
          <p:cNvSpPr/>
          <p:nvPr/>
        </p:nvSpPr>
        <p:spPr>
          <a:xfrm>
            <a:off x="5458968" y="1200150"/>
            <a:ext cx="1577340" cy="1131570"/>
          </a:xfrm>
          <a:prstGeom prst="roundRect">
            <a:avLst>
              <a:gd name="adj" fmla="val 4848"/>
            </a:avLst>
          </a:prstGeom>
          <a:solidFill>
            <a:srgbClr val="F5F0FA"/>
          </a:solidFill>
          <a:ln w="9525">
            <a:solidFill>
              <a:srgbClr val="E2D6F0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5561838" y="1289304"/>
            <a:ext cx="315468" cy="315468"/>
          </a:xfrm>
          <a:prstGeom prst="ellipse">
            <a:avLst/>
          </a:prstGeom>
          <a:solidFill>
            <a:srgbClr val="471876"/>
          </a:solidFill>
          <a:ln w="12700">
            <a:solidFill>
              <a:srgbClr val="471876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43860" y="1371326"/>
            <a:ext cx="151425" cy="151425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925312" y="1289304"/>
            <a:ext cx="1042416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38" b="1" dirty="0">
                <a:solidFill>
                  <a:srgbClr val="47187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Data and storage</a:t>
            </a:r>
            <a:endParaRPr lang="en-US" sz="93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17"/>
          <p:cNvSpPr txBox="1"/>
          <p:nvPr/>
        </p:nvSpPr>
        <p:spPr>
          <a:xfrm>
            <a:off x="5561838" y="1693926"/>
            <a:ext cx="1392174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7175" indent="-257175">
              <a:spcAft>
                <a:spcPts val="150"/>
              </a:spcAft>
              <a:buSzPct val="100000"/>
              <a:buChar char="•"/>
            </a:pPr>
            <a:r>
              <a:rPr lang="en-US" sz="788" dirty="0">
                <a:solidFill>
                  <a:srgbClr val="2B2B2B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Firebase Firestore</a:t>
            </a:r>
            <a:endParaRPr lang="en-US" sz="78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7175" indent="-257175">
              <a:spcAft>
                <a:spcPts val="150"/>
              </a:spcAft>
              <a:buSzPct val="100000"/>
              <a:buChar char="•"/>
            </a:pPr>
            <a:r>
              <a:rPr lang="en-US" sz="788" dirty="0">
                <a:solidFill>
                  <a:srgbClr val="2B2B2B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IPFS via Pinata</a:t>
            </a:r>
            <a:endParaRPr lang="en-US" sz="78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7175" indent="-257175">
              <a:spcAft>
                <a:spcPts val="150"/>
              </a:spcAft>
              <a:buSzPct val="100000"/>
              <a:buChar char="•"/>
            </a:pPr>
            <a:r>
              <a:rPr lang="en-US" sz="788" dirty="0">
                <a:solidFill>
                  <a:srgbClr val="2B2B2B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Vercel serverless /api/pin</a:t>
            </a:r>
            <a:endParaRPr lang="en-US" sz="78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18"/>
          <p:cNvSpPr/>
          <p:nvPr/>
        </p:nvSpPr>
        <p:spPr>
          <a:xfrm>
            <a:off x="7132320" y="1200150"/>
            <a:ext cx="1577340" cy="1131570"/>
          </a:xfrm>
          <a:prstGeom prst="roundRect">
            <a:avLst>
              <a:gd name="adj" fmla="val 4848"/>
            </a:avLst>
          </a:prstGeom>
          <a:solidFill>
            <a:srgbClr val="F5F0FA"/>
          </a:solidFill>
          <a:ln w="9525">
            <a:solidFill>
              <a:srgbClr val="E2D6F0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7235190" y="1289304"/>
            <a:ext cx="315468" cy="315468"/>
          </a:xfrm>
          <a:prstGeom prst="ellipse">
            <a:avLst/>
          </a:prstGeom>
          <a:solidFill>
            <a:srgbClr val="471876"/>
          </a:solidFill>
          <a:ln w="12700">
            <a:solidFill>
              <a:srgbClr val="471876"/>
            </a:solidFill>
            <a:prstDash val="solid"/>
          </a:ln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7212" y="1371326"/>
            <a:ext cx="151425" cy="151425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7598664" y="1289304"/>
            <a:ext cx="1042416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38" b="1" dirty="0">
                <a:solidFill>
                  <a:srgbClr val="47187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Hosting and checks</a:t>
            </a:r>
            <a:endParaRPr lang="en-US" sz="93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1"/>
          <p:cNvSpPr txBox="1"/>
          <p:nvPr/>
        </p:nvSpPr>
        <p:spPr>
          <a:xfrm>
            <a:off x="7235190" y="1693926"/>
            <a:ext cx="1392174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7175" indent="-257175">
              <a:spcAft>
                <a:spcPts val="150"/>
              </a:spcAft>
              <a:buSzPct val="100000"/>
              <a:buChar char="•"/>
            </a:pPr>
            <a:r>
              <a:rPr lang="en-US" sz="788" dirty="0">
                <a:solidFill>
                  <a:srgbClr val="2B2B2B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Vercel hosting</a:t>
            </a:r>
            <a:endParaRPr lang="en-US" sz="78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7175" indent="-257175">
              <a:spcAft>
                <a:spcPts val="150"/>
              </a:spcAft>
              <a:buSzPct val="100000"/>
              <a:buChar char="•"/>
            </a:pPr>
            <a:r>
              <a:rPr lang="en-US" sz="788" dirty="0">
                <a:solidFill>
                  <a:srgbClr val="2B2B2B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Hardhat test scripts</a:t>
            </a:r>
            <a:endParaRPr lang="en-US" sz="78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7175" indent="-257175">
              <a:spcAft>
                <a:spcPts val="150"/>
              </a:spcAft>
              <a:buSzPct val="100000"/>
              <a:buChar char="•"/>
            </a:pPr>
            <a:r>
              <a:rPr lang="en-US" sz="788" dirty="0">
                <a:solidFill>
                  <a:srgbClr val="2B2B2B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npm run doctor health check</a:t>
            </a:r>
            <a:endParaRPr lang="en-US" sz="78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2"/>
          <p:cNvSpPr txBox="1"/>
          <p:nvPr/>
        </p:nvSpPr>
        <p:spPr>
          <a:xfrm>
            <a:off x="438912" y="2400300"/>
            <a:ext cx="827074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25" b="1" dirty="0">
                <a:solidFill>
                  <a:srgbClr val="47187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Methodology and process for implementation (Flow Charts/Images/ working prototype)</a:t>
            </a:r>
            <a:endParaRPr lang="en-US" sz="112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Shape 23"/>
          <p:cNvSpPr/>
          <p:nvPr/>
        </p:nvSpPr>
        <p:spPr>
          <a:xfrm>
            <a:off x="438912" y="2688336"/>
            <a:ext cx="925830" cy="548640"/>
          </a:xfrm>
          <a:prstGeom prst="roundRect">
            <a:avLst>
              <a:gd name="adj" fmla="val 10000"/>
            </a:avLst>
          </a:prstGeom>
          <a:solidFill>
            <a:srgbClr val="471876"/>
          </a:solidFill>
          <a:ln w="12700">
            <a:solidFill>
              <a:srgbClr val="471876"/>
            </a:solidFill>
            <a:prstDash val="solid"/>
          </a:ln>
        </p:spPr>
      </p:sp>
      <p:sp>
        <p:nvSpPr>
          <p:cNvPr id="31" name="Text 24"/>
          <p:cNvSpPr txBox="1"/>
          <p:nvPr/>
        </p:nvSpPr>
        <p:spPr>
          <a:xfrm>
            <a:off x="438912" y="2688336"/>
            <a:ext cx="9258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75" b="1" dirty="0">
                <a:solidFill>
                  <a:srgbClr val="FFFFF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ADMIN</a:t>
            </a:r>
            <a:endParaRPr lang="en-US" sz="97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Shape 25"/>
          <p:cNvSpPr/>
          <p:nvPr/>
        </p:nvSpPr>
        <p:spPr>
          <a:xfrm>
            <a:off x="1467612" y="2688336"/>
            <a:ext cx="1632204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471876"/>
            </a:solidFill>
            <a:prstDash val="solid"/>
          </a:ln>
        </p:spPr>
      </p:sp>
      <p:sp>
        <p:nvSpPr>
          <p:cNvPr id="33" name="Text 26"/>
          <p:cNvSpPr txBox="1"/>
          <p:nvPr/>
        </p:nvSpPr>
        <p:spPr>
          <a:xfrm>
            <a:off x="1536192" y="2688336"/>
            <a:ext cx="14950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88" dirty="0">
                <a:solidFill>
                  <a:srgbClr val="2B2B2B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Upload certificate file</a:t>
            </a:r>
            <a:endParaRPr lang="en-US" sz="78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Shape 27"/>
          <p:cNvSpPr/>
          <p:nvPr/>
        </p:nvSpPr>
        <p:spPr>
          <a:xfrm>
            <a:off x="3120390" y="2962656"/>
            <a:ext cx="164592" cy="0"/>
          </a:xfrm>
          <a:prstGeom prst="line">
            <a:avLst/>
          </a:prstGeom>
          <a:noFill/>
          <a:ln w="25400">
            <a:solidFill>
              <a:srgbClr val="C9A267"/>
            </a:solidFill>
            <a:prstDash val="solid"/>
            <a:tailEnd type="triangle"/>
          </a:ln>
        </p:spPr>
      </p:sp>
      <p:sp>
        <p:nvSpPr>
          <p:cNvPr id="35" name="Shape 28"/>
          <p:cNvSpPr/>
          <p:nvPr/>
        </p:nvSpPr>
        <p:spPr>
          <a:xfrm>
            <a:off x="3305556" y="2688336"/>
            <a:ext cx="1632204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471876"/>
            </a:solidFill>
            <a:prstDash val="solid"/>
          </a:ln>
        </p:spPr>
      </p:sp>
      <p:sp>
        <p:nvSpPr>
          <p:cNvPr id="36" name="Text 29"/>
          <p:cNvSpPr txBox="1"/>
          <p:nvPr/>
        </p:nvSpPr>
        <p:spPr>
          <a:xfrm>
            <a:off x="3374136" y="2688336"/>
            <a:ext cx="14950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88" dirty="0">
                <a:solidFill>
                  <a:srgbClr val="2B2B2B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Compute SHA-256 hash, pin file to IPFS</a:t>
            </a:r>
            <a:endParaRPr lang="en-US" sz="78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Shape 30"/>
          <p:cNvSpPr/>
          <p:nvPr/>
        </p:nvSpPr>
        <p:spPr>
          <a:xfrm>
            <a:off x="4958334" y="2962656"/>
            <a:ext cx="164592" cy="0"/>
          </a:xfrm>
          <a:prstGeom prst="line">
            <a:avLst/>
          </a:prstGeom>
          <a:noFill/>
          <a:ln w="25400">
            <a:solidFill>
              <a:srgbClr val="C9A267"/>
            </a:solidFill>
            <a:prstDash val="solid"/>
            <a:tailEnd type="triangle"/>
          </a:ln>
        </p:spPr>
      </p:sp>
      <p:sp>
        <p:nvSpPr>
          <p:cNvPr id="38" name="Shape 31"/>
          <p:cNvSpPr/>
          <p:nvPr/>
        </p:nvSpPr>
        <p:spPr>
          <a:xfrm>
            <a:off x="5143500" y="2688336"/>
            <a:ext cx="1632204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471876"/>
            </a:solidFill>
            <a:prstDash val="solid"/>
          </a:ln>
        </p:spPr>
      </p:sp>
      <p:sp>
        <p:nvSpPr>
          <p:cNvPr id="39" name="Text 32"/>
          <p:cNvSpPr txBox="1"/>
          <p:nvPr/>
        </p:nvSpPr>
        <p:spPr>
          <a:xfrm>
            <a:off x="5212080" y="2688336"/>
            <a:ext cx="14950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88" dirty="0">
                <a:solidFill>
                  <a:srgbClr val="2B2B2B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Sign voucher with an issuer (MINTER) wallet</a:t>
            </a:r>
            <a:endParaRPr lang="en-US" sz="78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Shape 33"/>
          <p:cNvSpPr/>
          <p:nvPr/>
        </p:nvSpPr>
        <p:spPr>
          <a:xfrm>
            <a:off x="6796278" y="2962656"/>
            <a:ext cx="164592" cy="0"/>
          </a:xfrm>
          <a:prstGeom prst="line">
            <a:avLst/>
          </a:prstGeom>
          <a:noFill/>
          <a:ln w="25400">
            <a:solidFill>
              <a:srgbClr val="C9A267"/>
            </a:solidFill>
            <a:prstDash val="solid"/>
            <a:tailEnd type="triangle"/>
          </a:ln>
        </p:spPr>
      </p:sp>
      <p:sp>
        <p:nvSpPr>
          <p:cNvPr id="41" name="Shape 34"/>
          <p:cNvSpPr/>
          <p:nvPr/>
        </p:nvSpPr>
        <p:spPr>
          <a:xfrm>
            <a:off x="6981444" y="2688336"/>
            <a:ext cx="1632204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471876"/>
            </a:solidFill>
            <a:prstDash val="solid"/>
          </a:ln>
        </p:spPr>
      </p:sp>
      <p:sp>
        <p:nvSpPr>
          <p:cNvPr id="42" name="Text 35"/>
          <p:cNvSpPr txBox="1"/>
          <p:nvPr/>
        </p:nvSpPr>
        <p:spPr>
          <a:xfrm>
            <a:off x="7050024" y="2688336"/>
            <a:ext cx="14950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88" dirty="0">
                <a:solidFill>
                  <a:srgbClr val="2B2B2B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Save in Firestore + audit log; bulk CSV, revoke</a:t>
            </a:r>
            <a:endParaRPr lang="en-US" sz="78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Shape 36"/>
          <p:cNvSpPr/>
          <p:nvPr/>
        </p:nvSpPr>
        <p:spPr>
          <a:xfrm>
            <a:off x="438912" y="3305556"/>
            <a:ext cx="925830" cy="548640"/>
          </a:xfrm>
          <a:prstGeom prst="roundRect">
            <a:avLst>
              <a:gd name="adj" fmla="val 10000"/>
            </a:avLst>
          </a:prstGeom>
          <a:solidFill>
            <a:srgbClr val="C9A267"/>
          </a:solidFill>
          <a:ln w="12700">
            <a:solidFill>
              <a:srgbClr val="C9A267"/>
            </a:solidFill>
            <a:prstDash val="solid"/>
          </a:ln>
        </p:spPr>
      </p:sp>
      <p:sp>
        <p:nvSpPr>
          <p:cNvPr id="44" name="Text 37"/>
          <p:cNvSpPr txBox="1"/>
          <p:nvPr/>
        </p:nvSpPr>
        <p:spPr>
          <a:xfrm>
            <a:off x="438912" y="3305556"/>
            <a:ext cx="9258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75" b="1" dirty="0">
                <a:solidFill>
                  <a:srgbClr val="FFFFF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STUDENT</a:t>
            </a:r>
            <a:endParaRPr lang="en-US" sz="97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Shape 38"/>
          <p:cNvSpPr/>
          <p:nvPr/>
        </p:nvSpPr>
        <p:spPr>
          <a:xfrm>
            <a:off x="1467612" y="3305556"/>
            <a:ext cx="1632204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C9A267"/>
            </a:solidFill>
            <a:prstDash val="solid"/>
          </a:ln>
        </p:spPr>
      </p:sp>
      <p:sp>
        <p:nvSpPr>
          <p:cNvPr id="46" name="Text 39"/>
          <p:cNvSpPr txBox="1"/>
          <p:nvPr/>
        </p:nvSpPr>
        <p:spPr>
          <a:xfrm>
            <a:off x="1536192" y="3305556"/>
            <a:ext cx="14950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88" dirty="0">
                <a:solidFill>
                  <a:srgbClr val="2B2B2B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Press Claim NFT</a:t>
            </a:r>
            <a:endParaRPr lang="en-US" sz="78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Shape 40"/>
          <p:cNvSpPr/>
          <p:nvPr/>
        </p:nvSpPr>
        <p:spPr>
          <a:xfrm>
            <a:off x="3120390" y="3579876"/>
            <a:ext cx="164592" cy="0"/>
          </a:xfrm>
          <a:prstGeom prst="line">
            <a:avLst/>
          </a:prstGeom>
          <a:noFill/>
          <a:ln w="25400">
            <a:solidFill>
              <a:srgbClr val="C9A267"/>
            </a:solidFill>
            <a:prstDash val="solid"/>
            <a:tailEnd type="triangle"/>
          </a:ln>
        </p:spPr>
      </p:sp>
      <p:sp>
        <p:nvSpPr>
          <p:cNvPr id="48" name="Shape 41"/>
          <p:cNvSpPr/>
          <p:nvPr/>
        </p:nvSpPr>
        <p:spPr>
          <a:xfrm>
            <a:off x="3305556" y="3305556"/>
            <a:ext cx="1632204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C9A267"/>
            </a:solidFill>
            <a:prstDash val="solid"/>
          </a:ln>
        </p:spPr>
      </p:sp>
      <p:sp>
        <p:nvSpPr>
          <p:cNvPr id="49" name="Text 42"/>
          <p:cNvSpPr txBox="1"/>
          <p:nvPr/>
        </p:nvSpPr>
        <p:spPr>
          <a:xfrm>
            <a:off x="3374136" y="3305556"/>
            <a:ext cx="14950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88" dirty="0">
                <a:solidFill>
                  <a:srgbClr val="2B2B2B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Free pre-check: revoked? already minted? voucher valid?</a:t>
            </a:r>
            <a:endParaRPr lang="en-US" sz="78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Shape 43"/>
          <p:cNvSpPr/>
          <p:nvPr/>
        </p:nvSpPr>
        <p:spPr>
          <a:xfrm>
            <a:off x="4958334" y="3579876"/>
            <a:ext cx="164592" cy="0"/>
          </a:xfrm>
          <a:prstGeom prst="line">
            <a:avLst/>
          </a:prstGeom>
          <a:noFill/>
          <a:ln w="25400">
            <a:solidFill>
              <a:srgbClr val="C9A267"/>
            </a:solidFill>
            <a:prstDash val="solid"/>
            <a:tailEnd type="triangle"/>
          </a:ln>
        </p:spPr>
      </p:sp>
      <p:sp>
        <p:nvSpPr>
          <p:cNvPr id="51" name="Shape 44"/>
          <p:cNvSpPr/>
          <p:nvPr/>
        </p:nvSpPr>
        <p:spPr>
          <a:xfrm>
            <a:off x="5143500" y="3305556"/>
            <a:ext cx="1632204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C9A267"/>
            </a:solidFill>
            <a:prstDash val="solid"/>
          </a:ln>
        </p:spPr>
      </p:sp>
      <p:sp>
        <p:nvSpPr>
          <p:cNvPr id="52" name="Text 45"/>
          <p:cNvSpPr txBox="1"/>
          <p:nvPr/>
        </p:nvSpPr>
        <p:spPr>
          <a:xfrm>
            <a:off x="5212080" y="3305556"/>
            <a:ext cx="14950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88" dirty="0">
                <a:solidFill>
                  <a:srgbClr val="2B2B2B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Gasless payment through UGF</a:t>
            </a:r>
            <a:endParaRPr lang="en-US" sz="78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Shape 46"/>
          <p:cNvSpPr/>
          <p:nvPr/>
        </p:nvSpPr>
        <p:spPr>
          <a:xfrm>
            <a:off x="6796278" y="3579876"/>
            <a:ext cx="164592" cy="0"/>
          </a:xfrm>
          <a:prstGeom prst="line">
            <a:avLst/>
          </a:prstGeom>
          <a:noFill/>
          <a:ln w="25400">
            <a:solidFill>
              <a:srgbClr val="C9A267"/>
            </a:solidFill>
            <a:prstDash val="solid"/>
            <a:tailEnd type="triangle"/>
          </a:ln>
        </p:spPr>
      </p:sp>
      <p:sp>
        <p:nvSpPr>
          <p:cNvPr id="54" name="Shape 47"/>
          <p:cNvSpPr/>
          <p:nvPr/>
        </p:nvSpPr>
        <p:spPr>
          <a:xfrm>
            <a:off x="6981444" y="3305556"/>
            <a:ext cx="1632204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C9A267"/>
            </a:solidFill>
            <a:prstDash val="solid"/>
          </a:ln>
        </p:spPr>
      </p:sp>
      <p:sp>
        <p:nvSpPr>
          <p:cNvPr id="55" name="Text 48"/>
          <p:cNvSpPr txBox="1"/>
          <p:nvPr/>
        </p:nvSpPr>
        <p:spPr>
          <a:xfrm>
            <a:off x="7050024" y="3305556"/>
            <a:ext cx="14950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88" dirty="0">
                <a:solidFill>
                  <a:srgbClr val="2B2B2B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Contract mints the soulbound NFT</a:t>
            </a:r>
            <a:endParaRPr lang="en-US" sz="78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Shape 49"/>
          <p:cNvSpPr/>
          <p:nvPr/>
        </p:nvSpPr>
        <p:spPr>
          <a:xfrm>
            <a:off x="438912" y="3922776"/>
            <a:ext cx="925830" cy="548640"/>
          </a:xfrm>
          <a:prstGeom prst="roundRect">
            <a:avLst>
              <a:gd name="adj" fmla="val 10000"/>
            </a:avLst>
          </a:prstGeom>
          <a:solidFill>
            <a:srgbClr val="2E8B63"/>
          </a:solidFill>
          <a:ln w="12700">
            <a:solidFill>
              <a:srgbClr val="2E8B63"/>
            </a:solidFill>
            <a:prstDash val="solid"/>
          </a:ln>
        </p:spPr>
      </p:sp>
      <p:sp>
        <p:nvSpPr>
          <p:cNvPr id="57" name="Text 50"/>
          <p:cNvSpPr txBox="1"/>
          <p:nvPr/>
        </p:nvSpPr>
        <p:spPr>
          <a:xfrm>
            <a:off x="438912" y="3922776"/>
            <a:ext cx="9258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75" b="1" dirty="0">
                <a:solidFill>
                  <a:srgbClr val="FFFFF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VERIFIER</a:t>
            </a:r>
            <a:endParaRPr lang="en-US" sz="97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Shape 51"/>
          <p:cNvSpPr/>
          <p:nvPr/>
        </p:nvSpPr>
        <p:spPr>
          <a:xfrm>
            <a:off x="1467612" y="3922776"/>
            <a:ext cx="1632204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2E8B63"/>
            </a:solidFill>
            <a:prstDash val="solid"/>
          </a:ln>
        </p:spPr>
      </p:sp>
      <p:sp>
        <p:nvSpPr>
          <p:cNvPr id="59" name="Text 52"/>
          <p:cNvSpPr txBox="1"/>
          <p:nvPr/>
        </p:nvSpPr>
        <p:spPr>
          <a:xfrm>
            <a:off x="1536192" y="3922776"/>
            <a:ext cx="14950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88" dirty="0">
                <a:solidFill>
                  <a:srgbClr val="2B2B2B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Upload file, or enter ID / wallet / QR</a:t>
            </a:r>
            <a:endParaRPr lang="en-US" sz="78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Shape 53"/>
          <p:cNvSpPr/>
          <p:nvPr/>
        </p:nvSpPr>
        <p:spPr>
          <a:xfrm>
            <a:off x="3120390" y="4197096"/>
            <a:ext cx="164592" cy="0"/>
          </a:xfrm>
          <a:prstGeom prst="line">
            <a:avLst/>
          </a:prstGeom>
          <a:noFill/>
          <a:ln w="25400">
            <a:solidFill>
              <a:srgbClr val="C9A267"/>
            </a:solidFill>
            <a:prstDash val="solid"/>
            <a:tailEnd type="triangle"/>
          </a:ln>
        </p:spPr>
      </p:sp>
      <p:sp>
        <p:nvSpPr>
          <p:cNvPr id="61" name="Shape 54"/>
          <p:cNvSpPr/>
          <p:nvPr/>
        </p:nvSpPr>
        <p:spPr>
          <a:xfrm>
            <a:off x="3305556" y="3922776"/>
            <a:ext cx="1632204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2E8B63"/>
            </a:solidFill>
            <a:prstDash val="solid"/>
          </a:ln>
        </p:spPr>
      </p:sp>
      <p:sp>
        <p:nvSpPr>
          <p:cNvPr id="62" name="Text 55"/>
          <p:cNvSpPr txBox="1"/>
          <p:nvPr/>
        </p:nvSpPr>
        <p:spPr>
          <a:xfrm>
            <a:off x="3374136" y="3922776"/>
            <a:ext cx="14950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88" dirty="0">
                <a:solidFill>
                  <a:srgbClr val="2B2B2B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Browser re-computes the SHA-256 hash</a:t>
            </a:r>
            <a:endParaRPr lang="en-US" sz="78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Shape 56"/>
          <p:cNvSpPr/>
          <p:nvPr/>
        </p:nvSpPr>
        <p:spPr>
          <a:xfrm>
            <a:off x="4958334" y="4197096"/>
            <a:ext cx="164592" cy="0"/>
          </a:xfrm>
          <a:prstGeom prst="line">
            <a:avLst/>
          </a:prstGeom>
          <a:noFill/>
          <a:ln w="25400">
            <a:solidFill>
              <a:srgbClr val="C9A267"/>
            </a:solidFill>
            <a:prstDash val="solid"/>
            <a:tailEnd type="triangle"/>
          </a:ln>
        </p:spPr>
      </p:sp>
      <p:sp>
        <p:nvSpPr>
          <p:cNvPr id="64" name="Shape 57"/>
          <p:cNvSpPr/>
          <p:nvPr/>
        </p:nvSpPr>
        <p:spPr>
          <a:xfrm>
            <a:off x="5143500" y="3922776"/>
            <a:ext cx="1632204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2E8B63"/>
            </a:solidFill>
            <a:prstDash val="solid"/>
          </a:ln>
        </p:spPr>
      </p:sp>
      <p:sp>
        <p:nvSpPr>
          <p:cNvPr id="65" name="Text 58"/>
          <p:cNvSpPr txBox="1"/>
          <p:nvPr/>
        </p:nvSpPr>
        <p:spPr>
          <a:xfrm>
            <a:off x="5212080" y="3922776"/>
            <a:ext cx="14950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88" dirty="0">
                <a:solidFill>
                  <a:srgbClr val="2B2B2B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Contract verifyHash() is called</a:t>
            </a:r>
            <a:endParaRPr lang="en-US" sz="78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Shape 59"/>
          <p:cNvSpPr/>
          <p:nvPr/>
        </p:nvSpPr>
        <p:spPr>
          <a:xfrm>
            <a:off x="6796278" y="4197096"/>
            <a:ext cx="164592" cy="0"/>
          </a:xfrm>
          <a:prstGeom prst="line">
            <a:avLst/>
          </a:prstGeom>
          <a:noFill/>
          <a:ln w="25400">
            <a:solidFill>
              <a:srgbClr val="C9A267"/>
            </a:solidFill>
            <a:prstDash val="solid"/>
            <a:tailEnd type="triangle"/>
          </a:ln>
        </p:spPr>
      </p:sp>
      <p:sp>
        <p:nvSpPr>
          <p:cNvPr id="67" name="Shape 60"/>
          <p:cNvSpPr/>
          <p:nvPr/>
        </p:nvSpPr>
        <p:spPr>
          <a:xfrm>
            <a:off x="6981444" y="3922776"/>
            <a:ext cx="1632204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2E8B63"/>
            </a:solidFill>
            <a:prstDash val="solid"/>
          </a:ln>
        </p:spPr>
      </p:sp>
      <p:sp>
        <p:nvSpPr>
          <p:cNvPr id="68" name="Text 61"/>
          <p:cNvSpPr txBox="1"/>
          <p:nvPr/>
        </p:nvSpPr>
        <p:spPr>
          <a:xfrm>
            <a:off x="7050024" y="3922776"/>
            <a:ext cx="14950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88" dirty="0">
                <a:solidFill>
                  <a:srgbClr val="2B2B2B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Authentic / Revoked / Not found</a:t>
            </a:r>
            <a:endParaRPr lang="en-US" sz="78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73736"/>
          </a:xfrm>
          <a:prstGeom prst="rect">
            <a:avLst/>
          </a:prstGeom>
          <a:solidFill>
            <a:srgbClr val="491776"/>
          </a:solidFill>
          <a:ln w="12700">
            <a:solidFill>
              <a:srgbClr val="49177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91456"/>
            <a:ext cx="9144000" cy="352044"/>
          </a:xfrm>
          <a:prstGeom prst="rect">
            <a:avLst/>
          </a:prstGeom>
          <a:solidFill>
            <a:srgbClr val="491776"/>
          </a:solidFill>
          <a:ln w="12700">
            <a:solidFill>
              <a:srgbClr val="49177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0" y="0"/>
            <a:ext cx="457200" cy="411480"/>
          </a:xfrm>
          <a:prstGeom prst="line">
            <a:avLst/>
          </a:prstGeom>
          <a:noFill/>
          <a:ln w="38100">
            <a:solidFill>
              <a:srgbClr val="C9A06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4645152"/>
            <a:ext cx="1554480" cy="0"/>
          </a:xfrm>
          <a:prstGeom prst="line">
            <a:avLst/>
          </a:prstGeom>
          <a:noFill/>
          <a:ln w="12700">
            <a:solidFill>
              <a:srgbClr val="C9A063"/>
            </a:solidFill>
            <a:prstDash val="solid"/>
          </a:ln>
        </p:spPr>
      </p:sp>
      <p:pic>
        <p:nvPicPr>
          <p:cNvPr id="6" name="Image 0" descr="logo_g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228600"/>
            <a:ext cx="1874520" cy="6766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201168"/>
            <a:ext cx="658368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FEASIBILITY AND VIABILITY</a:t>
            </a:r>
            <a:endParaRPr lang="en-US" sz="2400" b="1" dirty="0"/>
          </a:p>
        </p:txBody>
      </p:sp>
      <p:sp>
        <p:nvSpPr>
          <p:cNvPr id="8" name="Text 5"/>
          <p:cNvSpPr txBox="1"/>
          <p:nvPr/>
        </p:nvSpPr>
        <p:spPr>
          <a:xfrm>
            <a:off x="365760" y="960120"/>
            <a:ext cx="2606040" cy="457200"/>
          </a:xfrm>
          <a:prstGeom prst="rect">
            <a:avLst/>
          </a:prstGeom>
          <a:solidFill>
            <a:srgbClr val="491776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Analysis of the feasibility of the idea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3268980" y="960120"/>
            <a:ext cx="2606040" cy="457200"/>
          </a:xfrm>
          <a:prstGeom prst="rect">
            <a:avLst/>
          </a:prstGeom>
          <a:solidFill>
            <a:srgbClr val="B3372B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Potential challenges and risks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6172200" y="960120"/>
            <a:ext cx="2606040" cy="457200"/>
          </a:xfrm>
          <a:prstGeom prst="rect">
            <a:avLst/>
          </a:prstGeom>
          <a:solidFill>
            <a:srgbClr val="2E7D32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Strategies for overcoming these challenges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65760" y="1508760"/>
            <a:ext cx="2606040" cy="960120"/>
          </a:xfrm>
          <a:prstGeom prst="roundRect">
            <a:avLst>
              <a:gd name="adj" fmla="val 7619"/>
            </a:avLst>
          </a:prstGeom>
          <a:solidFill>
            <a:srgbClr val="F3EDF8"/>
          </a:solidFill>
          <a:ln w="6350">
            <a:solidFill>
              <a:srgbClr val="F3EDF8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572768"/>
            <a:ext cx="219456" cy="21945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49808" y="1545336"/>
            <a:ext cx="210312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9177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Technical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438912" y="1819656"/>
            <a:ext cx="246888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Proven standards (ERC-721, ERC-5192, signed vouchers) on low-fee Base L2. Working prototype with tests.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3268980" y="1508760"/>
            <a:ext cx="2606040" cy="960120"/>
          </a:xfrm>
          <a:prstGeom prst="roundRect">
            <a:avLst>
              <a:gd name="adj" fmla="val 7619"/>
            </a:avLst>
          </a:prstGeom>
          <a:solidFill>
            <a:srgbClr val="FBEDEB"/>
          </a:solidFill>
          <a:ln w="6350">
            <a:solidFill>
              <a:srgbClr val="FBEDEB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3342132" y="1508760"/>
            <a:ext cx="2468880" cy="960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Depends on third parties (UGF, Pinata, Firebase); testnet only; one admin key controls issuing.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5897880" y="1865376"/>
            <a:ext cx="256032" cy="246888"/>
          </a:xfrm>
          <a:prstGeom prst="rightArrow">
            <a:avLst/>
          </a:prstGeom>
          <a:solidFill>
            <a:srgbClr val="C9A063"/>
          </a:solidFill>
          <a:ln w="12700">
            <a:solidFill>
              <a:srgbClr val="C9A063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172200" y="1508760"/>
            <a:ext cx="2606040" cy="960120"/>
          </a:xfrm>
          <a:prstGeom prst="roundRect">
            <a:avLst>
              <a:gd name="adj" fmla="val 7619"/>
            </a:avLst>
          </a:prstGeom>
          <a:solidFill>
            <a:srgbClr val="E8F3E9"/>
          </a:solidFill>
          <a:ln w="6350">
            <a:solidFill>
              <a:srgbClr val="E8F3E9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6245352" y="1508760"/>
            <a:ext cx="2468880" cy="960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Hash and revoked status live on-chain, so verification works if a service is down; multisig admin; mainnet pilot after audit.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365760" y="2542032"/>
            <a:ext cx="2606040" cy="960120"/>
          </a:xfrm>
          <a:prstGeom prst="roundRect">
            <a:avLst>
              <a:gd name="adj" fmla="val 7619"/>
            </a:avLst>
          </a:prstGeom>
          <a:solidFill>
            <a:srgbClr val="F3EDF8"/>
          </a:solidFill>
          <a:ln w="6350">
            <a:solidFill>
              <a:srgbClr val="F3EDF8"/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2606040"/>
            <a:ext cx="219456" cy="219456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749808" y="2578608"/>
            <a:ext cx="210312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9177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Economic</a:t>
            </a:r>
            <a:endParaRPr lang="en-US" sz="1150" dirty="0"/>
          </a:p>
        </p:txBody>
      </p:sp>
      <p:sp>
        <p:nvSpPr>
          <p:cNvPr id="23" name="Text 18"/>
          <p:cNvSpPr txBox="1"/>
          <p:nvPr/>
        </p:nvSpPr>
        <p:spPr>
          <a:xfrm>
            <a:off x="438912" y="2852928"/>
            <a:ext cx="246888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Students need no ETH; verification is free. Admin pays low L2 gas for bulk issue and revoke.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3268980" y="2542032"/>
            <a:ext cx="2606040" cy="960120"/>
          </a:xfrm>
          <a:prstGeom prst="roundRect">
            <a:avLst>
              <a:gd name="adj" fmla="val 7619"/>
            </a:avLst>
          </a:prstGeom>
          <a:solidFill>
            <a:srgbClr val="FBEDEB"/>
          </a:solidFill>
          <a:ln w="6350">
            <a:solidFill>
              <a:srgbClr val="FBEDEB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3342132" y="2542032"/>
            <a:ext cx="2468880" cy="960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Gas and UGF fees add up at scale.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5897880" y="2898648"/>
            <a:ext cx="256032" cy="246888"/>
          </a:xfrm>
          <a:prstGeom prst="rightArrow">
            <a:avLst/>
          </a:prstGeom>
          <a:solidFill>
            <a:srgbClr val="C9A063"/>
          </a:solidFill>
          <a:ln w="12700">
            <a:solidFill>
              <a:srgbClr val="C9A063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6172200" y="2542032"/>
            <a:ext cx="2606040" cy="960120"/>
          </a:xfrm>
          <a:prstGeom prst="roundRect">
            <a:avLst>
              <a:gd name="adj" fmla="val 7619"/>
            </a:avLst>
          </a:prstGeom>
          <a:solidFill>
            <a:srgbClr val="E8F3E9"/>
          </a:solidFill>
          <a:ln w="6350">
            <a:solidFill>
              <a:srgbClr val="E8F3E9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6245352" y="2542032"/>
            <a:ext cx="2468880" cy="960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Batch-issue 25 certificates per transaction; planned institution subscription to cover fees.</a:t>
            </a:r>
            <a:endParaRPr lang="en-US" sz="1050" dirty="0"/>
          </a:p>
        </p:txBody>
      </p:sp>
      <p:sp>
        <p:nvSpPr>
          <p:cNvPr id="29" name="Shape 24"/>
          <p:cNvSpPr/>
          <p:nvPr/>
        </p:nvSpPr>
        <p:spPr>
          <a:xfrm>
            <a:off x="365760" y="3575304"/>
            <a:ext cx="2606040" cy="960120"/>
          </a:xfrm>
          <a:prstGeom prst="roundRect">
            <a:avLst>
              <a:gd name="adj" fmla="val 7619"/>
            </a:avLst>
          </a:prstGeom>
          <a:solidFill>
            <a:srgbClr val="F3EDF8"/>
          </a:solidFill>
          <a:ln w="6350">
            <a:solidFill>
              <a:srgbClr val="F3EDF8"/>
            </a:solidFill>
            <a:prstDash val="solid"/>
          </a:ln>
        </p:spPr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639312"/>
            <a:ext cx="219456" cy="219456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749808" y="3611880"/>
            <a:ext cx="210312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9177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Operational</a:t>
            </a:r>
            <a:endParaRPr lang="en-US" sz="1150" dirty="0"/>
          </a:p>
        </p:txBody>
      </p:sp>
      <p:sp>
        <p:nvSpPr>
          <p:cNvPr id="32" name="Text 26"/>
          <p:cNvSpPr txBox="1"/>
          <p:nvPr/>
        </p:nvSpPr>
        <p:spPr>
          <a:xfrm>
            <a:off x="438912" y="3886200"/>
            <a:ext cx="246888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Admin issues by form or CSV; verifiers need no account or wallet.</a:t>
            </a:r>
            <a:endParaRPr lang="en-US" sz="1000" dirty="0"/>
          </a:p>
        </p:txBody>
      </p:sp>
      <p:sp>
        <p:nvSpPr>
          <p:cNvPr id="33" name="Shape 27"/>
          <p:cNvSpPr/>
          <p:nvPr/>
        </p:nvSpPr>
        <p:spPr>
          <a:xfrm>
            <a:off x="3268980" y="3575304"/>
            <a:ext cx="2606040" cy="960120"/>
          </a:xfrm>
          <a:prstGeom prst="roundRect">
            <a:avLst>
              <a:gd name="adj" fmla="val 7619"/>
            </a:avLst>
          </a:prstGeom>
          <a:solidFill>
            <a:srgbClr val="FBEDEB"/>
          </a:solidFill>
          <a:ln w="6350">
            <a:solidFill>
              <a:srgbClr val="FBEDEB"/>
            </a:solidFill>
            <a:prstDash val="solid"/>
          </a:ln>
        </p:spPr>
      </p:sp>
      <p:sp>
        <p:nvSpPr>
          <p:cNvPr id="34" name="Text 28"/>
          <p:cNvSpPr txBox="1"/>
          <p:nvPr/>
        </p:nvSpPr>
        <p:spPr>
          <a:xfrm>
            <a:off x="3342132" y="3575304"/>
            <a:ext cx="2468880" cy="960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Privacy and security: prototype database rules are open; colleges must be onboarded.</a:t>
            </a:r>
            <a:endParaRPr lang="en-US" sz="1050" dirty="0"/>
          </a:p>
        </p:txBody>
      </p:sp>
      <p:sp>
        <p:nvSpPr>
          <p:cNvPr id="35" name="Shape 29"/>
          <p:cNvSpPr/>
          <p:nvPr/>
        </p:nvSpPr>
        <p:spPr>
          <a:xfrm>
            <a:off x="5897880" y="3931920"/>
            <a:ext cx="256032" cy="246888"/>
          </a:xfrm>
          <a:prstGeom prst="rightArrow">
            <a:avLst/>
          </a:prstGeom>
          <a:solidFill>
            <a:srgbClr val="C9A063"/>
          </a:solidFill>
          <a:ln w="12700">
            <a:solidFill>
              <a:srgbClr val="C9A063"/>
            </a:solidFill>
            <a:prstDash val="solid"/>
          </a:ln>
        </p:spPr>
      </p:sp>
      <p:sp>
        <p:nvSpPr>
          <p:cNvPr id="36" name="Shape 30"/>
          <p:cNvSpPr/>
          <p:nvPr/>
        </p:nvSpPr>
        <p:spPr>
          <a:xfrm>
            <a:off x="6172200" y="3575304"/>
            <a:ext cx="2606040" cy="960120"/>
          </a:xfrm>
          <a:prstGeom prst="roundRect">
            <a:avLst>
              <a:gd name="adj" fmla="val 7619"/>
            </a:avLst>
          </a:prstGeom>
          <a:solidFill>
            <a:srgbClr val="E8F3E9"/>
          </a:solidFill>
          <a:ln w="6350">
            <a:solidFill>
              <a:srgbClr val="E8F3E9"/>
            </a:solidFill>
            <a:prstDash val="solid"/>
          </a:ln>
        </p:spPr>
      </p:sp>
      <p:sp>
        <p:nvSpPr>
          <p:cNvPr id="37" name="Text 31"/>
          <p:cNvSpPr txBox="1"/>
          <p:nvPr/>
        </p:nvSpPr>
        <p:spPr>
          <a:xfrm>
            <a:off x="6245352" y="3575304"/>
            <a:ext cx="2468880" cy="960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Only hash, title, issuer and wallet on-chain (no names); add wallet-signature login, strict database rules; pilot with partner colleges.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60604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5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IMPACT AND BENEFITS</a:t>
            </a:r>
            <a:endParaRPr lang="en-US" sz="2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38912" y="960120"/>
            <a:ext cx="8270748" cy="288036"/>
          </a:xfrm>
          <a:prstGeom prst="roundRect">
            <a:avLst>
              <a:gd name="adj" fmla="val 19048"/>
            </a:avLst>
          </a:prstGeom>
          <a:solidFill>
            <a:srgbClr val="471876"/>
          </a:solidFill>
          <a:ln w="12700">
            <a:solidFill>
              <a:srgbClr val="47187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62356" y="960120"/>
            <a:ext cx="802386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 dirty="0">
                <a:solidFill>
                  <a:srgbClr val="FFFFF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Potential impact on the target audience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38912" y="1316736"/>
            <a:ext cx="2674620" cy="1179576"/>
          </a:xfrm>
          <a:prstGeom prst="roundRect">
            <a:avLst>
              <a:gd name="adj" fmla="val 4651"/>
            </a:avLst>
          </a:prstGeom>
          <a:solidFill>
            <a:srgbClr val="F5F0FA"/>
          </a:solidFill>
          <a:ln w="9525">
            <a:solidFill>
              <a:srgbClr val="E2D6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1782" y="1412748"/>
            <a:ext cx="342900" cy="342900"/>
          </a:xfrm>
          <a:prstGeom prst="ellipse">
            <a:avLst/>
          </a:prstGeom>
          <a:solidFill>
            <a:srgbClr val="471876"/>
          </a:solidFill>
          <a:ln w="12700">
            <a:solidFill>
              <a:srgbClr val="471876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" y="1501902"/>
            <a:ext cx="164592" cy="16459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973836" y="1412748"/>
            <a:ext cx="2057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 dirty="0">
                <a:solidFill>
                  <a:srgbClr val="47187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Students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 txBox="1"/>
          <p:nvPr/>
        </p:nvSpPr>
        <p:spPr>
          <a:xfrm>
            <a:off x="562356" y="1851660"/>
            <a:ext cx="2455164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7175" indent="-257175">
              <a:spcAft>
                <a:spcPts val="225"/>
              </a:spcAft>
              <a:buSzPct val="100000"/>
              <a:buChar char="•"/>
            </a:pPr>
            <a:r>
              <a:rPr lang="en-US" sz="825" dirty="0">
                <a:solidFill>
                  <a:srgbClr val="2B2B2B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Own a non-transferable proof tied to their wallet</a:t>
            </a:r>
            <a:endParaRPr lang="en-US" sz="82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7175" indent="-257175">
              <a:spcAft>
                <a:spcPts val="225"/>
              </a:spcAft>
              <a:buSzPct val="100000"/>
              <a:buChar char="•"/>
            </a:pPr>
            <a:r>
              <a:rPr lang="en-US" sz="825" dirty="0">
                <a:solidFill>
                  <a:srgbClr val="2B2B2B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Claim with no ETH needed</a:t>
            </a:r>
            <a:endParaRPr lang="en-US" sz="82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7175" indent="-257175">
              <a:spcAft>
                <a:spcPts val="225"/>
              </a:spcAft>
              <a:buSzPct val="100000"/>
              <a:buChar char="•"/>
            </a:pPr>
            <a:r>
              <a:rPr lang="en-US" sz="825" dirty="0">
                <a:solidFill>
                  <a:srgbClr val="2B2B2B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Share a verified public profile with QR</a:t>
            </a:r>
            <a:endParaRPr lang="en-US" sz="82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3236976" y="1316736"/>
            <a:ext cx="2674620" cy="1179576"/>
          </a:xfrm>
          <a:prstGeom prst="roundRect">
            <a:avLst>
              <a:gd name="adj" fmla="val 4651"/>
            </a:avLst>
          </a:prstGeom>
          <a:solidFill>
            <a:srgbClr val="F5F0FA"/>
          </a:solidFill>
          <a:ln w="9525">
            <a:solidFill>
              <a:srgbClr val="E2D6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339846" y="1412748"/>
            <a:ext cx="342900" cy="342900"/>
          </a:xfrm>
          <a:prstGeom prst="ellipse">
            <a:avLst/>
          </a:prstGeom>
          <a:solidFill>
            <a:srgbClr val="471876"/>
          </a:solidFill>
          <a:ln w="12700">
            <a:solidFill>
              <a:srgbClr val="471876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1501902"/>
            <a:ext cx="164592" cy="16459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771900" y="1412748"/>
            <a:ext cx="2057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 dirty="0">
                <a:solidFill>
                  <a:srgbClr val="47187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Colleges and admins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0"/>
          <p:cNvSpPr txBox="1"/>
          <p:nvPr/>
        </p:nvSpPr>
        <p:spPr>
          <a:xfrm>
            <a:off x="3360420" y="1851660"/>
            <a:ext cx="2455164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7175" indent="-257175">
              <a:spcAft>
                <a:spcPts val="225"/>
              </a:spcAft>
              <a:buSzPct val="100000"/>
              <a:buChar char="•"/>
            </a:pPr>
            <a:r>
              <a:rPr lang="en-US" sz="825" dirty="0">
                <a:solidFill>
                  <a:srgbClr val="2B2B2B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Issue in bulk from a CSV</a:t>
            </a:r>
            <a:endParaRPr lang="en-US" sz="82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7175" indent="-257175">
              <a:spcAft>
                <a:spcPts val="225"/>
              </a:spcAft>
              <a:buSzPct val="100000"/>
              <a:buChar char="•"/>
            </a:pPr>
            <a:r>
              <a:rPr lang="en-US" sz="825" dirty="0">
                <a:solidFill>
                  <a:srgbClr val="2B2B2B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Revoke any certificate when needed</a:t>
            </a:r>
            <a:endParaRPr lang="en-US" sz="82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7175" indent="-257175">
              <a:spcAft>
                <a:spcPts val="225"/>
              </a:spcAft>
              <a:buSzPct val="100000"/>
              <a:buChar char="•"/>
            </a:pPr>
            <a:r>
              <a:rPr lang="en-US" sz="825" dirty="0">
                <a:solidFill>
                  <a:srgbClr val="2B2B2B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Every action saved in an audit log</a:t>
            </a:r>
            <a:endParaRPr lang="en-US" sz="82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1"/>
          <p:cNvSpPr/>
          <p:nvPr/>
        </p:nvSpPr>
        <p:spPr>
          <a:xfrm>
            <a:off x="6035040" y="1316736"/>
            <a:ext cx="2674620" cy="1179576"/>
          </a:xfrm>
          <a:prstGeom prst="roundRect">
            <a:avLst>
              <a:gd name="adj" fmla="val 4651"/>
            </a:avLst>
          </a:prstGeom>
          <a:solidFill>
            <a:srgbClr val="F5F0FA"/>
          </a:solidFill>
          <a:ln w="9525">
            <a:solidFill>
              <a:srgbClr val="E2D6F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137910" y="1412748"/>
            <a:ext cx="342900" cy="342900"/>
          </a:xfrm>
          <a:prstGeom prst="ellipse">
            <a:avLst/>
          </a:prstGeom>
          <a:solidFill>
            <a:srgbClr val="471876"/>
          </a:solidFill>
          <a:ln w="12700">
            <a:solidFill>
              <a:srgbClr val="471876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7064" y="1501902"/>
            <a:ext cx="164592" cy="16459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569964" y="1412748"/>
            <a:ext cx="2057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 dirty="0">
                <a:solidFill>
                  <a:srgbClr val="47187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Employers and verifiers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4"/>
          <p:cNvSpPr txBox="1"/>
          <p:nvPr/>
        </p:nvSpPr>
        <p:spPr>
          <a:xfrm>
            <a:off x="6158484" y="1851660"/>
            <a:ext cx="2455164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7175" indent="-257175">
              <a:spcAft>
                <a:spcPts val="225"/>
              </a:spcAft>
              <a:buSzPct val="100000"/>
              <a:buChar char="•"/>
            </a:pPr>
            <a:r>
              <a:rPr lang="en-US" sz="825" dirty="0">
                <a:solidFill>
                  <a:srgbClr val="2B2B2B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Verify in seconds without contacting the college</a:t>
            </a:r>
            <a:endParaRPr lang="en-US" sz="82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7175" indent="-257175">
              <a:spcAft>
                <a:spcPts val="225"/>
              </a:spcAft>
              <a:buSzPct val="100000"/>
              <a:buChar char="•"/>
            </a:pPr>
            <a:r>
              <a:rPr lang="en-US" sz="825" dirty="0">
                <a:solidFill>
                  <a:srgbClr val="2B2B2B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See Authentic, Revoked or Not found</a:t>
            </a:r>
            <a:endParaRPr lang="en-US" sz="82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7175" indent="-257175">
              <a:spcAft>
                <a:spcPts val="225"/>
              </a:spcAft>
              <a:buSzPct val="100000"/>
              <a:buChar char="•"/>
            </a:pPr>
            <a:r>
              <a:rPr lang="en-US" sz="825" dirty="0">
                <a:solidFill>
                  <a:srgbClr val="2B2B2B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Keep a history of what they verified</a:t>
            </a:r>
            <a:endParaRPr lang="en-US" sz="82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5"/>
          <p:cNvSpPr/>
          <p:nvPr/>
        </p:nvSpPr>
        <p:spPr>
          <a:xfrm>
            <a:off x="438912" y="2592324"/>
            <a:ext cx="8270748" cy="288036"/>
          </a:xfrm>
          <a:prstGeom prst="roundRect">
            <a:avLst>
              <a:gd name="adj" fmla="val 19048"/>
            </a:avLst>
          </a:prstGeom>
          <a:solidFill>
            <a:srgbClr val="471876"/>
          </a:solidFill>
          <a:ln w="12700">
            <a:solidFill>
              <a:srgbClr val="471876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562356" y="2592324"/>
            <a:ext cx="802386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 dirty="0">
                <a:solidFill>
                  <a:srgbClr val="FFFFF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Benefits of the solution (social, economic, environmental, etc.)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17"/>
          <p:cNvSpPr/>
          <p:nvPr/>
        </p:nvSpPr>
        <p:spPr>
          <a:xfrm>
            <a:off x="438912" y="2935224"/>
            <a:ext cx="2674620" cy="699516"/>
          </a:xfrm>
          <a:prstGeom prst="roundRect">
            <a:avLst>
              <a:gd name="adj" fmla="val 7843"/>
            </a:avLst>
          </a:prstGeom>
          <a:solidFill>
            <a:srgbClr val="FAF4EA"/>
          </a:solidFill>
          <a:ln w="9525">
            <a:solidFill>
              <a:srgbClr val="EBDDBF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541782" y="3017520"/>
            <a:ext cx="301752" cy="301752"/>
          </a:xfrm>
          <a:prstGeom prst="ellipse">
            <a:avLst/>
          </a:prstGeom>
          <a:solidFill>
            <a:srgbClr val="C9A267"/>
          </a:solidFill>
          <a:ln w="12700">
            <a:solidFill>
              <a:srgbClr val="C9A267"/>
            </a:solidFill>
            <a:prstDash val="solid"/>
          </a:ln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0238" y="3095976"/>
            <a:ext cx="144841" cy="144841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918972" y="3017520"/>
            <a:ext cx="209169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5" b="1" dirty="0">
                <a:solidFill>
                  <a:srgbClr val="47187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Social</a:t>
            </a:r>
            <a:endParaRPr lang="en-US" sz="97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0"/>
          <p:cNvSpPr txBox="1"/>
          <p:nvPr/>
        </p:nvSpPr>
        <p:spPr>
          <a:xfrm>
            <a:off x="562356" y="3346704"/>
            <a:ext cx="2455164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750" dirty="0">
                <a:solidFill>
                  <a:srgbClr val="2B2B2B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Builds trust in credentials. Students need no ETH, so blockchain stays in the background.</a:t>
            </a:r>
            <a:endParaRPr lang="en-US" sz="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21"/>
          <p:cNvSpPr/>
          <p:nvPr/>
        </p:nvSpPr>
        <p:spPr>
          <a:xfrm>
            <a:off x="3236976" y="2935224"/>
            <a:ext cx="2674620" cy="699516"/>
          </a:xfrm>
          <a:prstGeom prst="roundRect">
            <a:avLst>
              <a:gd name="adj" fmla="val 7843"/>
            </a:avLst>
          </a:prstGeom>
          <a:solidFill>
            <a:srgbClr val="FAF4EA"/>
          </a:solidFill>
          <a:ln w="9525">
            <a:solidFill>
              <a:srgbClr val="EBDDBF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3339846" y="3017520"/>
            <a:ext cx="301752" cy="301752"/>
          </a:xfrm>
          <a:prstGeom prst="ellipse">
            <a:avLst/>
          </a:prstGeom>
          <a:solidFill>
            <a:srgbClr val="C9A267"/>
          </a:solidFill>
          <a:ln w="12700">
            <a:solidFill>
              <a:srgbClr val="C9A267"/>
            </a:solidFill>
            <a:prstDash val="solid"/>
          </a:ln>
        </p:spPr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18302" y="3095976"/>
            <a:ext cx="144841" cy="144841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3717036" y="3017520"/>
            <a:ext cx="209169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5" b="1" dirty="0">
                <a:solidFill>
                  <a:srgbClr val="47187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Economic</a:t>
            </a:r>
            <a:endParaRPr lang="en-US" sz="97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4"/>
          <p:cNvSpPr txBox="1"/>
          <p:nvPr/>
        </p:nvSpPr>
        <p:spPr>
          <a:xfrm>
            <a:off x="3360420" y="3346704"/>
            <a:ext cx="2455164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750" dirty="0">
                <a:solidFill>
                  <a:srgbClr val="2B2B2B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No ETH needed for students. Bulk issue (25 per transaction) and self-service verification cut admin effort.</a:t>
            </a:r>
            <a:endParaRPr lang="en-US" sz="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Shape 25"/>
          <p:cNvSpPr/>
          <p:nvPr/>
        </p:nvSpPr>
        <p:spPr>
          <a:xfrm>
            <a:off x="6035040" y="2935224"/>
            <a:ext cx="2674620" cy="699516"/>
          </a:xfrm>
          <a:prstGeom prst="roundRect">
            <a:avLst>
              <a:gd name="adj" fmla="val 7843"/>
            </a:avLst>
          </a:prstGeom>
          <a:solidFill>
            <a:srgbClr val="FAF4EA"/>
          </a:solidFill>
          <a:ln w="9525">
            <a:solidFill>
              <a:srgbClr val="EBDDBF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6137910" y="3017520"/>
            <a:ext cx="301752" cy="301752"/>
          </a:xfrm>
          <a:prstGeom prst="ellipse">
            <a:avLst/>
          </a:prstGeom>
          <a:solidFill>
            <a:srgbClr val="C9A267"/>
          </a:solidFill>
          <a:ln w="12700">
            <a:solidFill>
              <a:srgbClr val="C9A267"/>
            </a:solidFill>
            <a:prstDash val="solid"/>
          </a:ln>
        </p:spPr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6366" y="3095976"/>
            <a:ext cx="144841" cy="144841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6515100" y="3017520"/>
            <a:ext cx="209169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5" b="1" dirty="0">
                <a:solidFill>
                  <a:srgbClr val="47187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Environmental</a:t>
            </a:r>
            <a:endParaRPr lang="en-US" sz="97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 28"/>
          <p:cNvSpPr txBox="1"/>
          <p:nvPr/>
        </p:nvSpPr>
        <p:spPr>
          <a:xfrm>
            <a:off x="6158484" y="3346704"/>
            <a:ext cx="2455164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750" dirty="0">
                <a:solidFill>
                  <a:srgbClr val="2B2B2B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Digital-first certificates reduce the need for printed copies.</a:t>
            </a:r>
            <a:endParaRPr lang="en-US" sz="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Shape 29"/>
          <p:cNvSpPr/>
          <p:nvPr/>
        </p:nvSpPr>
        <p:spPr>
          <a:xfrm>
            <a:off x="438912" y="3737610"/>
            <a:ext cx="1131570" cy="685800"/>
          </a:xfrm>
          <a:prstGeom prst="roundRect">
            <a:avLst>
              <a:gd name="adj" fmla="val 8000"/>
            </a:avLst>
          </a:prstGeom>
          <a:solidFill>
            <a:srgbClr val="471876"/>
          </a:solidFill>
          <a:ln w="12700">
            <a:solidFill>
              <a:srgbClr val="471876"/>
            </a:solidFill>
            <a:prstDash val="solid"/>
          </a:ln>
        </p:spPr>
      </p:sp>
      <p:sp>
        <p:nvSpPr>
          <p:cNvPr id="38" name="Text 30"/>
          <p:cNvSpPr txBox="1"/>
          <p:nvPr/>
        </p:nvSpPr>
        <p:spPr>
          <a:xfrm>
            <a:off x="438912" y="3737610"/>
            <a:ext cx="113157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75" b="1" dirty="0">
                <a:solidFill>
                  <a:srgbClr val="FFFFF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FUTURE SCOPE</a:t>
            </a:r>
            <a:endParaRPr lang="en-US" sz="97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Shape 31"/>
          <p:cNvSpPr/>
          <p:nvPr/>
        </p:nvSpPr>
        <p:spPr>
          <a:xfrm>
            <a:off x="1639062" y="3737610"/>
            <a:ext cx="1714500" cy="685800"/>
          </a:xfrm>
          <a:prstGeom prst="homePlate">
            <a:avLst/>
          </a:prstGeom>
          <a:solidFill>
            <a:srgbClr val="F5F0FA"/>
          </a:solidFill>
          <a:ln w="15875">
            <a:solidFill>
              <a:srgbClr val="C9A267"/>
            </a:solidFill>
            <a:prstDash val="solid"/>
          </a:ln>
        </p:spPr>
      </p:sp>
      <p:sp>
        <p:nvSpPr>
          <p:cNvPr id="40" name="Text 32"/>
          <p:cNvSpPr txBox="1"/>
          <p:nvPr/>
        </p:nvSpPr>
        <p:spPr>
          <a:xfrm>
            <a:off x="1735074" y="3737610"/>
            <a:ext cx="13030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88" dirty="0">
                <a:solidFill>
                  <a:srgbClr val="2B2B2B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Add to LinkedIn button on certificates</a:t>
            </a:r>
            <a:endParaRPr lang="en-US" sz="78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Shape 33"/>
          <p:cNvSpPr/>
          <p:nvPr/>
        </p:nvSpPr>
        <p:spPr>
          <a:xfrm>
            <a:off x="3401568" y="3737610"/>
            <a:ext cx="1714500" cy="685800"/>
          </a:xfrm>
          <a:prstGeom prst="homePlate">
            <a:avLst/>
          </a:prstGeom>
          <a:solidFill>
            <a:srgbClr val="F5F0FA"/>
          </a:solidFill>
          <a:ln w="15875">
            <a:solidFill>
              <a:srgbClr val="C9A267"/>
            </a:solidFill>
            <a:prstDash val="solid"/>
          </a:ln>
        </p:spPr>
      </p:sp>
      <p:sp>
        <p:nvSpPr>
          <p:cNvPr id="42" name="Text 34"/>
          <p:cNvSpPr txBox="1"/>
          <p:nvPr/>
        </p:nvSpPr>
        <p:spPr>
          <a:xfrm>
            <a:off x="3497580" y="3737610"/>
            <a:ext cx="13030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88" dirty="0">
                <a:solidFill>
                  <a:srgbClr val="2B2B2B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User validation with faculty-controlled attendance events</a:t>
            </a:r>
            <a:endParaRPr lang="en-US" sz="78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Shape 35"/>
          <p:cNvSpPr/>
          <p:nvPr/>
        </p:nvSpPr>
        <p:spPr>
          <a:xfrm>
            <a:off x="5164074" y="3737610"/>
            <a:ext cx="1714500" cy="685800"/>
          </a:xfrm>
          <a:prstGeom prst="homePlate">
            <a:avLst/>
          </a:prstGeom>
          <a:solidFill>
            <a:srgbClr val="F5F0FA"/>
          </a:solidFill>
          <a:ln w="15875">
            <a:solidFill>
              <a:srgbClr val="C9A267"/>
            </a:solidFill>
            <a:prstDash val="solid"/>
          </a:ln>
        </p:spPr>
      </p:sp>
      <p:sp>
        <p:nvSpPr>
          <p:cNvPr id="44" name="Text 36"/>
          <p:cNvSpPr txBox="1"/>
          <p:nvPr/>
        </p:nvSpPr>
        <p:spPr>
          <a:xfrm>
            <a:off x="5260086" y="3737610"/>
            <a:ext cx="13030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88" dirty="0">
                <a:solidFill>
                  <a:srgbClr val="2B2B2B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Marketplace of opportunities unlocked by achievements</a:t>
            </a:r>
            <a:endParaRPr lang="en-US" sz="78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Shape 37"/>
          <p:cNvSpPr/>
          <p:nvPr/>
        </p:nvSpPr>
        <p:spPr>
          <a:xfrm>
            <a:off x="6926580" y="3737610"/>
            <a:ext cx="1714500" cy="685800"/>
          </a:xfrm>
          <a:prstGeom prst="homePlate">
            <a:avLst/>
          </a:prstGeom>
          <a:solidFill>
            <a:srgbClr val="F5F0FA"/>
          </a:solidFill>
          <a:ln w="15875">
            <a:solidFill>
              <a:srgbClr val="C9A267"/>
            </a:solidFill>
            <a:prstDash val="solid"/>
          </a:ln>
        </p:spPr>
      </p:sp>
      <p:sp>
        <p:nvSpPr>
          <p:cNvPr id="46" name="Text 38"/>
          <p:cNvSpPr txBox="1"/>
          <p:nvPr/>
        </p:nvSpPr>
        <p:spPr>
          <a:xfrm>
            <a:off x="7022592" y="3737610"/>
            <a:ext cx="13030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88" dirty="0">
                <a:solidFill>
                  <a:srgbClr val="2B2B2B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Separate admin views for each college</a:t>
            </a:r>
            <a:endParaRPr lang="en-US" sz="78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73736"/>
          </a:xfrm>
          <a:prstGeom prst="rect">
            <a:avLst/>
          </a:prstGeom>
          <a:solidFill>
            <a:srgbClr val="491776"/>
          </a:solidFill>
          <a:ln w="12700">
            <a:solidFill>
              <a:srgbClr val="49177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91456"/>
            <a:ext cx="9144000" cy="352044"/>
          </a:xfrm>
          <a:prstGeom prst="rect">
            <a:avLst/>
          </a:prstGeom>
          <a:solidFill>
            <a:srgbClr val="491776"/>
          </a:solidFill>
          <a:ln w="12700">
            <a:solidFill>
              <a:srgbClr val="49177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0" y="0"/>
            <a:ext cx="457200" cy="411480"/>
          </a:xfrm>
          <a:prstGeom prst="line">
            <a:avLst/>
          </a:prstGeom>
          <a:noFill/>
          <a:ln w="38100">
            <a:solidFill>
              <a:srgbClr val="C9A06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4645152"/>
            <a:ext cx="1554480" cy="0"/>
          </a:xfrm>
          <a:prstGeom prst="line">
            <a:avLst/>
          </a:prstGeom>
          <a:noFill/>
          <a:ln w="12700">
            <a:solidFill>
              <a:srgbClr val="C9A063"/>
            </a:solidFill>
            <a:prstDash val="solid"/>
          </a:ln>
        </p:spPr>
      </p:sp>
      <p:pic>
        <p:nvPicPr>
          <p:cNvPr id="6" name="Image 0" descr="logo_g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228600"/>
            <a:ext cx="1874520" cy="6766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201168"/>
            <a:ext cx="658368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22222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RESEARCH AND REFERENCES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365760" y="914400"/>
            <a:ext cx="457200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9177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Standards &amp; documentation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365760" y="1234440"/>
            <a:ext cx="4754880" cy="685800"/>
          </a:xfrm>
          <a:prstGeom prst="roundRect">
            <a:avLst>
              <a:gd name="adj" fmla="val 10667"/>
            </a:avLst>
          </a:prstGeom>
          <a:solidFill>
            <a:srgbClr val="F3EDF8"/>
          </a:solidFill>
          <a:ln w="6350">
            <a:solidFill>
              <a:srgbClr val="F3EDF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11480" y="1234440"/>
            <a:ext cx="1051560" cy="685800"/>
          </a:xfrm>
          <a:prstGeom prst="rect">
            <a:avLst/>
          </a:prstGeom>
          <a:solidFill>
            <a:srgbClr val="491776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Token standard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 txBox="1"/>
          <p:nvPr/>
        </p:nvSpPr>
        <p:spPr>
          <a:xfrm>
            <a:off x="1554480" y="1234440"/>
            <a:ext cx="352044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222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ERC-5192 Minimal Soulbound NFT standard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900" u="sng" dirty="0">
                <a:solidFill>
                  <a:srgbClr val="1155CC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https://eips.ethereum.org/EIPS/eip-5192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365760" y="2011680"/>
            <a:ext cx="4754880" cy="685800"/>
          </a:xfrm>
          <a:prstGeom prst="roundRect">
            <a:avLst>
              <a:gd name="adj" fmla="val 10667"/>
            </a:avLst>
          </a:prstGeom>
          <a:solidFill>
            <a:srgbClr val="F3EDF8"/>
          </a:solidFill>
          <a:ln w="6350">
            <a:solidFill>
              <a:srgbClr val="F3EDF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11480" y="2011680"/>
            <a:ext cx="1051560" cy="685800"/>
          </a:xfrm>
          <a:prstGeom prst="rect">
            <a:avLst/>
          </a:prstGeom>
          <a:solidFill>
            <a:srgbClr val="491776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Gasless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1"/>
          <p:cNvSpPr txBox="1"/>
          <p:nvPr/>
        </p:nvSpPr>
        <p:spPr>
          <a:xfrm>
            <a:off x="1554480" y="2011680"/>
            <a:ext cx="352044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222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Universal Gas Framework (UGF) for gasless claiming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900" u="sng" dirty="0">
                <a:solidFill>
                  <a:srgbClr val="1155CC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https://universalgasframework.com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365760" y="2788920"/>
            <a:ext cx="4754880" cy="685800"/>
          </a:xfrm>
          <a:prstGeom prst="roundRect">
            <a:avLst>
              <a:gd name="adj" fmla="val 10667"/>
            </a:avLst>
          </a:prstGeom>
          <a:solidFill>
            <a:srgbClr val="F3EDF8"/>
          </a:solidFill>
          <a:ln w="6350">
            <a:solidFill>
              <a:srgbClr val="F3EDF8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11480" y="2788920"/>
            <a:ext cx="1051560" cy="685800"/>
          </a:xfrm>
          <a:prstGeom prst="rect">
            <a:avLst/>
          </a:prstGeom>
          <a:solidFill>
            <a:srgbClr val="491776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Low-cost chain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4"/>
          <p:cNvSpPr txBox="1"/>
          <p:nvPr/>
        </p:nvSpPr>
        <p:spPr>
          <a:xfrm>
            <a:off x="1554480" y="2788920"/>
            <a:ext cx="352044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222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Base network docs (low-cost L2 we deploy on)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900" u="sng" dirty="0">
                <a:solidFill>
                  <a:srgbClr val="1155CC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https://docs.base.org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5"/>
          <p:cNvSpPr txBox="1"/>
          <p:nvPr/>
        </p:nvSpPr>
        <p:spPr>
          <a:xfrm>
            <a:off x="5303520" y="914400"/>
            <a:ext cx="365760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9177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Research papers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5303520" y="1234440"/>
            <a:ext cx="3474720" cy="1143000"/>
          </a:xfrm>
          <a:prstGeom prst="roundRect">
            <a:avLst>
              <a:gd name="adj" fmla="val 6400"/>
            </a:avLst>
          </a:prstGeom>
          <a:solidFill>
            <a:srgbClr val="F3EDF8"/>
          </a:solidFill>
          <a:ln w="6350">
            <a:solidFill>
              <a:srgbClr val="F3EDF8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349240" y="1280160"/>
            <a:ext cx="1097280" cy="1051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49177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16 s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8"/>
          <p:cNvSpPr txBox="1"/>
          <p:nvPr/>
        </p:nvSpPr>
        <p:spPr>
          <a:xfrm>
            <a:off x="6446520" y="1280160"/>
            <a:ext cx="2286000" cy="1051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222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Mishra et al. (2020)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850" dirty="0">
                <a:solidFill>
                  <a:srgbClr val="22222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Certificate smart contract on Ethereum Rinkeby; gas cost measured; avg write time per certificate (proof-of-authority).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900" u="sng" dirty="0">
                <a:solidFill>
                  <a:srgbClr val="1155CC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arxiv.org/abs/2108.04125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5303520" y="2468880"/>
            <a:ext cx="3474720" cy="1097280"/>
          </a:xfrm>
          <a:prstGeom prst="roundRect">
            <a:avLst>
              <a:gd name="adj" fmla="val 6667"/>
            </a:avLst>
          </a:prstGeom>
          <a:solidFill>
            <a:srgbClr val="F3EDF8"/>
          </a:solidFill>
          <a:ln w="6350">
            <a:solidFill>
              <a:srgbClr val="F3EDF8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440680" y="2816352"/>
            <a:ext cx="457200" cy="457200"/>
          </a:xfrm>
          <a:prstGeom prst="ellipse">
            <a:avLst/>
          </a:prstGeom>
          <a:solidFill>
            <a:srgbClr val="491776"/>
          </a:solidFill>
          <a:ln w="12700">
            <a:solidFill>
              <a:srgbClr val="491776"/>
            </a:solidFill>
            <a:prstDash val="solid"/>
          </a:ln>
        </p:spPr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50408" y="2926080"/>
            <a:ext cx="237744" cy="237744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5989320" y="2514600"/>
            <a:ext cx="274320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222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Gundgurti et al. (2020)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850" dirty="0">
                <a:solidFill>
                  <a:srgbClr val="22222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Uploaded a digital certificate file to IPFS via Remix IDE; stored its hash in a smart contract as proof of authenticity.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2"/>
          <p:cNvSpPr txBox="1"/>
          <p:nvPr/>
        </p:nvSpPr>
        <p:spPr>
          <a:xfrm>
            <a:off x="365760" y="3657600"/>
            <a:ext cx="457200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9177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Additional resources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23"/>
          <p:cNvSpPr/>
          <p:nvPr/>
        </p:nvSpPr>
        <p:spPr>
          <a:xfrm>
            <a:off x="365760" y="3977640"/>
            <a:ext cx="2743200" cy="594360"/>
          </a:xfrm>
          <a:prstGeom prst="roundRect">
            <a:avLst>
              <a:gd name="adj" fmla="val 12308"/>
            </a:avLst>
          </a:prstGeom>
          <a:solidFill>
            <a:srgbClr val="F3EDF8"/>
          </a:solidFill>
          <a:ln w="6350">
            <a:solidFill>
              <a:srgbClr val="F3EDF8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411480" y="3977640"/>
            <a:ext cx="265176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2222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IPFS documentation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900" u="sng" dirty="0">
                <a:solidFill>
                  <a:srgbClr val="1155CC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https://docs.ipfs.tech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Shape 25"/>
          <p:cNvSpPr/>
          <p:nvPr/>
        </p:nvSpPr>
        <p:spPr>
          <a:xfrm>
            <a:off x="3200400" y="3977640"/>
            <a:ext cx="2743200" cy="594360"/>
          </a:xfrm>
          <a:prstGeom prst="roundRect">
            <a:avLst>
              <a:gd name="adj" fmla="val 12308"/>
            </a:avLst>
          </a:prstGeom>
          <a:solidFill>
            <a:srgbClr val="F3EDF8"/>
          </a:solidFill>
          <a:ln w="6350">
            <a:solidFill>
              <a:srgbClr val="F3EDF8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3246120" y="3977640"/>
            <a:ext cx="265176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2222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OpenZeppelin Contracts docs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900" u="sng" dirty="0">
                <a:solidFill>
                  <a:srgbClr val="1155CC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https://docs.openzeppelin.com/contracts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Shape 27"/>
          <p:cNvSpPr/>
          <p:nvPr/>
        </p:nvSpPr>
        <p:spPr>
          <a:xfrm>
            <a:off x="6035040" y="3977640"/>
            <a:ext cx="2743200" cy="594360"/>
          </a:xfrm>
          <a:prstGeom prst="roundRect">
            <a:avLst>
              <a:gd name="adj" fmla="val 12308"/>
            </a:avLst>
          </a:prstGeom>
          <a:solidFill>
            <a:srgbClr val="F3EDF8"/>
          </a:solidFill>
          <a:ln w="6350">
            <a:solidFill>
              <a:srgbClr val="F3EDF8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6080760" y="3977640"/>
            <a:ext cx="265176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2222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QR + IPFS certificate verification paper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900" u="sng" dirty="0">
                <a:solidFill>
                  <a:srgbClr val="1155CC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https://doi.org/10.23851/mjs.v35i1.1461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1066</Words>
  <Application>Microsoft Office PowerPoint</Application>
  <PresentationFormat>On-screen Show (16:9)</PresentationFormat>
  <Paragraphs>149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Pranjal Bagad</cp:lastModifiedBy>
  <cp:revision>3</cp:revision>
  <dcterms:created xsi:type="dcterms:W3CDTF">2026-10-02T08:46:01Z</dcterms:created>
  <dcterms:modified xsi:type="dcterms:W3CDTF">2026-10-03T00:35:20Z</dcterms:modified>
</cp:coreProperties>
</file>