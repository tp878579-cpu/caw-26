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3" r:id="rId4"/>
    <p:sldId id="259" r:id="rId5"/>
    <p:sldId id="264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6302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row: the technology stack, grouped by job. Bottom: the three working flows. Admin issues, student claims, verifier checks. The blockchain stores the proof (hash, owner, status), Firebase stores names and logs, and IPFS stores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who benefits and how. Middle: social, economic and environmental benefits. Bottom: the planned next features (LinkedIn sharing, user validation through faculty-controlled attendance, achievement-gated opportunities marketplace, college-wise admin separation).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_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3167" y="185166"/>
            <a:ext cx="2100605" cy="7200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raiso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74320"/>
            <a:ext cx="1920240" cy="56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00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png"/><Relationship Id="rId7" Type="http://schemas.openxmlformats.org/officeDocument/2006/relationships/hyperlink" Target="https://arxiv.org/abs/2108.04125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polygon.technology" TargetMode="External"/><Relationship Id="rId11" Type="http://schemas.openxmlformats.org/officeDocument/2006/relationships/hyperlink" Target="https://doi.org/10.23851/mjs.v35i1.1461" TargetMode="External"/><Relationship Id="rId5" Type="http://schemas.openxmlformats.org/officeDocument/2006/relationships/hyperlink" Target="https://docs.opengsn.org" TargetMode="External"/><Relationship Id="rId10" Type="http://schemas.openxmlformats.org/officeDocument/2006/relationships/hyperlink" Target="https://docs.biconomy.io" TargetMode="External"/><Relationship Id="rId4" Type="http://schemas.openxmlformats.org/officeDocument/2006/relationships/hyperlink" Target="https://eips.ethereum.org/EIPS/eip-2771" TargetMode="External"/><Relationship Id="rId9" Type="http://schemas.openxmlformats.org/officeDocument/2006/relationships/hyperlink" Target="https://docs.ipfs.te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73736"/>
          </a:xfrm>
          <a:prstGeom prst="rect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0" y="0"/>
            <a:ext cx="457200" cy="411480"/>
          </a:xfrm>
          <a:prstGeom prst="line">
            <a:avLst/>
          </a:prstGeom>
          <a:noFill/>
          <a:ln w="38100">
            <a:solidFill>
              <a:srgbClr val="C9A0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645152"/>
            <a:ext cx="1554480" cy="0"/>
          </a:xfrm>
          <a:prstGeom prst="line">
            <a:avLst/>
          </a:prstGeom>
          <a:noFill/>
          <a:ln w="12700">
            <a:solidFill>
              <a:srgbClr val="C9A063"/>
            </a:solidFill>
            <a:prstDash val="solid"/>
          </a:ln>
        </p:spPr>
      </p:sp>
      <p:pic>
        <p:nvPicPr>
          <p:cNvPr id="6" name="Image 0" descr="logo_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28600"/>
            <a:ext cx="1874520" cy="676656"/>
          </a:xfrm>
          <a:prstGeom prst="rect">
            <a:avLst/>
          </a:prstGeom>
        </p:spPr>
      </p:pic>
      <p:pic>
        <p:nvPicPr>
          <p:cNvPr id="7" name="Image 1" descr="logo_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28600"/>
            <a:ext cx="1097280" cy="7680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201168"/>
            <a:ext cx="5577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HACK2IGNITE 2026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91440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Title page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57200" y="160020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491776"/>
          </a:solidFill>
          <a:ln w="6350">
            <a:solidFill>
              <a:srgbClr val="49177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Team name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2560320" y="1600200"/>
            <a:ext cx="6126480" cy="411480"/>
          </a:xfrm>
          <a:prstGeom prst="roundRect">
            <a:avLst>
              <a:gd name="adj" fmla="val 17778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651760" y="1600200"/>
            <a:ext cx="5943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HerVision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57200" y="21031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491776"/>
          </a:solidFill>
          <a:ln w="6350">
            <a:solidFill>
              <a:srgbClr val="49177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5720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Problem statement ID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2560320" y="2103120"/>
            <a:ext cx="6126480" cy="411480"/>
          </a:xfrm>
          <a:prstGeom prst="roundRect">
            <a:avLst>
              <a:gd name="adj" fmla="val 17778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651760" y="2103120"/>
            <a:ext cx="5943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WB-01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57200" y="26060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491776"/>
          </a:solidFill>
          <a:ln w="6350">
            <a:solidFill>
              <a:srgbClr val="49177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2606040"/>
            <a:ext cx="2011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Institution name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2560320" y="2606040"/>
            <a:ext cx="6126480" cy="411480"/>
          </a:xfrm>
          <a:prstGeom prst="roundRect">
            <a:avLst>
              <a:gd name="adj" fmla="val 17778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651760" y="2606040"/>
            <a:ext cx="59436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Shri Vile Parle Kelwani Mandal’s Institute of Technology, Dhule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 txBox="1"/>
          <p:nvPr/>
        </p:nvSpPr>
        <p:spPr>
          <a:xfrm>
            <a:off x="457200" y="3154680"/>
            <a:ext cx="3657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917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Team members: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57200" y="35204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94360" y="3703320"/>
            <a:ext cx="502920" cy="502920"/>
          </a:xfrm>
          <a:prstGeom prst="ellipse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813048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188720" y="3566160"/>
            <a:ext cx="1874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1. Pranjal Rajendra Bagad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3246120" y="35204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383280" y="3703320"/>
            <a:ext cx="502920" cy="502920"/>
          </a:xfrm>
          <a:prstGeom prst="ellipse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813048"/>
            <a:ext cx="283464" cy="28346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3977640" y="3566160"/>
            <a:ext cx="1874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2. Tejaswini Lotan Patil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6035040" y="352044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172200" y="3703320"/>
            <a:ext cx="502920" cy="502920"/>
          </a:xfrm>
          <a:prstGeom prst="ellipse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3813048"/>
            <a:ext cx="283464" cy="28346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766560" y="3566160"/>
            <a:ext cx="1874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3. Pratiksha Rajmal Shimpi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73736"/>
          </a:xfrm>
          <a:prstGeom prst="rect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0" y="0"/>
            <a:ext cx="457200" cy="411480"/>
          </a:xfrm>
          <a:prstGeom prst="line">
            <a:avLst/>
          </a:prstGeom>
          <a:noFill/>
          <a:ln w="38100">
            <a:solidFill>
              <a:srgbClr val="C9A0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645152"/>
            <a:ext cx="1554480" cy="0"/>
          </a:xfrm>
          <a:prstGeom prst="line">
            <a:avLst/>
          </a:prstGeom>
          <a:noFill/>
          <a:ln w="12700">
            <a:solidFill>
              <a:srgbClr val="C9A063"/>
            </a:solidFill>
            <a:prstDash val="solid"/>
          </a:ln>
        </p:spPr>
      </p:sp>
      <p:pic>
        <p:nvPicPr>
          <p:cNvPr id="6" name="Image 0" descr="logo_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28600"/>
            <a:ext cx="1874520" cy="676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01168"/>
            <a:ext cx="6583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IDEA TITLE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96012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491776"/>
          </a:solidFill>
          <a:ln w="6350">
            <a:solidFill>
              <a:srgbClr val="49177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GaslessCert – Blockchain-Based Certificate Verification with Zero Transaction Cost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65760" y="1371600"/>
            <a:ext cx="4114800" cy="274320"/>
          </a:xfrm>
          <a:prstGeom prst="rect">
            <a:avLst/>
          </a:prstGeom>
          <a:solidFill>
            <a:srgbClr val="B3372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Problem identified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4663440" y="1371600"/>
            <a:ext cx="4114800" cy="27432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Proposed Solution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5760" y="1682496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BEDEB"/>
          </a:solidFill>
          <a:ln w="6350">
            <a:solidFill>
              <a:srgbClr val="FBED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682496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E8F3E9"/>
          </a:solidFill>
          <a:ln w="6350">
            <a:solidFill>
              <a:srgbClr val="E8F3E9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8308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3232" y="1737360"/>
            <a:ext cx="3703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Fake degrees / certificates: </a:t>
            </a: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forged credentials are easy to produce and hard to detect.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084832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3232" y="2039112"/>
            <a:ext cx="3703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Manual verification: </a:t>
            </a: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employers must call / email institutions for every check.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386584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3232" y="2340864"/>
            <a:ext cx="3703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Slow, costly, trust-dependent: </a:t>
            </a: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depends on institution response time and goodwill.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688336"/>
            <a:ext cx="182880" cy="1828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13232" y="2642616"/>
            <a:ext cx="3703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Gas fees block adoption: </a:t>
            </a: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students and institutions must hold and fund crypto wallets.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1773936"/>
            <a:ext cx="173736" cy="17373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001768" y="1737360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Institutions issue tamper-proof certificates as hashes stored on-chain.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018995"/>
            <a:ext cx="173736" cy="17373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5001768" y="1982419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Anyone verifies instantly via QR code / certificate ID.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264054"/>
            <a:ext cx="173736" cy="17373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001768" y="2227478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Eliminates fake degrees and certificates.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509114"/>
            <a:ext cx="173736" cy="173736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5001768" y="2472538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Removes manual verification calls / emails to institutions.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754173"/>
            <a:ext cx="173736" cy="173736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5001768" y="2717597"/>
            <a:ext cx="3730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Instant, trustless verification for employers and universities.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0"/>
          <p:cNvSpPr/>
          <p:nvPr/>
        </p:nvSpPr>
        <p:spPr>
          <a:xfrm>
            <a:off x="365760" y="3035808"/>
            <a:ext cx="8412480" cy="1609344"/>
          </a:xfrm>
          <a:prstGeom prst="roundRect">
            <a:avLst>
              <a:gd name="adj" fmla="val 4545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33" name="Text 21"/>
          <p:cNvSpPr txBox="1"/>
          <p:nvPr/>
        </p:nvSpPr>
        <p:spPr>
          <a:xfrm>
            <a:off x="457200" y="3044952"/>
            <a:ext cx="5486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91776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Innovation / Uniqueness — Gasless Transactions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2"/>
          <p:cNvSpPr txBox="1"/>
          <p:nvPr/>
        </p:nvSpPr>
        <p:spPr>
          <a:xfrm>
            <a:off x="457200" y="3310128"/>
            <a:ext cx="82296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Blockchain use normally needs crypto gas fees, a major barrier for students and institutions unfamiliar with wallets. Our system uses meta-transactions via a relayer (ERC-2771 / Biconomy-style relayer or a Paymaster on an EVM chain like Polygon).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23"/>
          <p:cNvSpPr/>
          <p:nvPr/>
        </p:nvSpPr>
        <p:spPr>
          <a:xfrm>
            <a:off x="548640" y="3813048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491776"/>
          </a:solidFill>
          <a:ln w="6350">
            <a:solidFill>
              <a:srgbClr val="491776"/>
            </a:solidFill>
            <a:prstDash val="solid"/>
          </a:ln>
        </p:spPr>
      </p:sp>
      <p:sp>
        <p:nvSpPr>
          <p:cNvPr id="36" name="Text 24"/>
          <p:cNvSpPr txBox="1"/>
          <p:nvPr/>
        </p:nvSpPr>
        <p:spPr>
          <a:xfrm>
            <a:off x="548640" y="3813048"/>
            <a:ext cx="2331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Student / Institution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signs off-chain (OTP / signature)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25"/>
          <p:cNvSpPr/>
          <p:nvPr/>
        </p:nvSpPr>
        <p:spPr>
          <a:xfrm>
            <a:off x="2926080" y="3904488"/>
            <a:ext cx="365760" cy="228600"/>
          </a:xfrm>
          <a:prstGeom prst="rightArrow">
            <a:avLst/>
          </a:prstGeom>
          <a:solidFill>
            <a:srgbClr val="C9A063"/>
          </a:solidFill>
          <a:ln w="12700">
            <a:solidFill>
              <a:srgbClr val="C9A063"/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3337560" y="3813048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8A6A2F"/>
          </a:solidFill>
          <a:ln w="6350">
            <a:solidFill>
              <a:srgbClr val="8A6A2F"/>
            </a:solidFill>
            <a:prstDash val="solid"/>
          </a:ln>
        </p:spPr>
      </p:sp>
      <p:sp>
        <p:nvSpPr>
          <p:cNvPr id="39" name="Text 27"/>
          <p:cNvSpPr txBox="1"/>
          <p:nvPr/>
        </p:nvSpPr>
        <p:spPr>
          <a:xfrm>
            <a:off x="3337560" y="3813048"/>
            <a:ext cx="2331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Relayer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pays the actual gas fee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28"/>
          <p:cNvSpPr/>
          <p:nvPr/>
        </p:nvSpPr>
        <p:spPr>
          <a:xfrm>
            <a:off x="5715000" y="3904488"/>
            <a:ext cx="365760" cy="228600"/>
          </a:xfrm>
          <a:prstGeom prst="rightArrow">
            <a:avLst/>
          </a:prstGeom>
          <a:solidFill>
            <a:srgbClr val="C9A063"/>
          </a:solidFill>
          <a:ln w="12700">
            <a:solidFill>
              <a:srgbClr val="C9A063"/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6126480" y="3813048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491776"/>
          </a:solidFill>
          <a:ln w="6350">
            <a:solidFill>
              <a:srgbClr val="491776"/>
            </a:solidFill>
            <a:prstDash val="solid"/>
          </a:ln>
        </p:spPr>
      </p:sp>
      <p:sp>
        <p:nvSpPr>
          <p:cNvPr id="42" name="Text 30"/>
          <p:cNvSpPr txBox="1"/>
          <p:nvPr/>
        </p:nvSpPr>
        <p:spPr>
          <a:xfrm>
            <a:off x="6126480" y="3813048"/>
            <a:ext cx="2331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EVM chain (Polygon)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certificate hash stored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31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• Verification cost is absorbed by the institution/platform, not passed to users.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• Seamless for non-technical users — no crypto wallet funding needed.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6060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TECHNICAL APPROACH</a:t>
            </a:r>
            <a:endParaRPr lang="en-US"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38912" y="905256"/>
            <a:ext cx="82707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Technologies to be used (e.g. programming languages, frameworks, hardware)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200150"/>
            <a:ext cx="1577340" cy="1131570"/>
          </a:xfrm>
          <a:prstGeom prst="roundRect">
            <a:avLst>
              <a:gd name="adj" fmla="val 4848"/>
            </a:avLst>
          </a:prstGeom>
          <a:solidFill>
            <a:srgbClr val="F5F0FA"/>
          </a:solidFill>
          <a:ln w="9525">
            <a:solidFill>
              <a:srgbClr val="E2D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1782" y="1289304"/>
            <a:ext cx="315468" cy="315468"/>
          </a:xfrm>
          <a:prstGeom prst="ellipse">
            <a:avLst/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04" y="1371326"/>
            <a:ext cx="151425" cy="1514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05256" y="1289304"/>
            <a:ext cx="10424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Frontend</a:t>
            </a:r>
            <a:endParaRPr lang="en-US" sz="9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1782" y="1693926"/>
            <a:ext cx="139217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React 18 + Vite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Tailwind CSS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Framer Motion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112264" y="1200150"/>
            <a:ext cx="1577340" cy="1131570"/>
          </a:xfrm>
          <a:prstGeom prst="roundRect">
            <a:avLst>
              <a:gd name="adj" fmla="val 4848"/>
            </a:avLst>
          </a:prstGeom>
          <a:solidFill>
            <a:srgbClr val="F5F0FA"/>
          </a:solidFill>
          <a:ln w="9525">
            <a:solidFill>
              <a:srgbClr val="E2D6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15134" y="1289304"/>
            <a:ext cx="315468" cy="315468"/>
          </a:xfrm>
          <a:prstGeom prst="ellipse">
            <a:avLst/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7156" y="1371326"/>
            <a:ext cx="151425" cy="1514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78608" y="1289304"/>
            <a:ext cx="10424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Smart contract</a:t>
            </a:r>
            <a:endParaRPr lang="en-US" sz="9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2215134" y="1693926"/>
            <a:ext cx="139217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Solidity 0.8.24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OpenZeppelin ERC-721 + AccessControl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Hardhat (build, test)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785616" y="1200150"/>
            <a:ext cx="1577340" cy="1131570"/>
          </a:xfrm>
          <a:prstGeom prst="roundRect">
            <a:avLst>
              <a:gd name="adj" fmla="val 4848"/>
            </a:avLst>
          </a:prstGeom>
          <a:solidFill>
            <a:srgbClr val="F5F0FA"/>
          </a:solidFill>
          <a:ln w="9525">
            <a:solidFill>
              <a:srgbClr val="E2D6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888486" y="1289304"/>
            <a:ext cx="315468" cy="315468"/>
          </a:xfrm>
          <a:prstGeom prst="ellipse">
            <a:avLst/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0508" y="1371326"/>
            <a:ext cx="151425" cy="1514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251960" y="1289304"/>
            <a:ext cx="10424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Wallet and gasless</a:t>
            </a:r>
            <a:endParaRPr lang="en-US" sz="9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3888486" y="1693926"/>
            <a:ext cx="139217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MetaMask + ethers.js v6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UGF gasless payments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Base Sepolia network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58968" y="1200150"/>
            <a:ext cx="1577340" cy="1131570"/>
          </a:xfrm>
          <a:prstGeom prst="roundRect">
            <a:avLst>
              <a:gd name="adj" fmla="val 4848"/>
            </a:avLst>
          </a:prstGeom>
          <a:solidFill>
            <a:srgbClr val="F5F0FA"/>
          </a:solidFill>
          <a:ln w="9525">
            <a:solidFill>
              <a:srgbClr val="E2D6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561838" y="1289304"/>
            <a:ext cx="315468" cy="315468"/>
          </a:xfrm>
          <a:prstGeom prst="ellipse">
            <a:avLst/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3860" y="1371326"/>
            <a:ext cx="151425" cy="1514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925312" y="1289304"/>
            <a:ext cx="10424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and storage</a:t>
            </a:r>
            <a:endParaRPr lang="en-US" sz="9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5561838" y="1693926"/>
            <a:ext cx="139217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Firebase Firestore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IPFS via Pinata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Vercel serverless /api/pin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7132320" y="1200150"/>
            <a:ext cx="1577340" cy="1131570"/>
          </a:xfrm>
          <a:prstGeom prst="roundRect">
            <a:avLst>
              <a:gd name="adj" fmla="val 4848"/>
            </a:avLst>
          </a:prstGeom>
          <a:solidFill>
            <a:srgbClr val="F5F0FA"/>
          </a:solidFill>
          <a:ln w="9525">
            <a:solidFill>
              <a:srgbClr val="E2D6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235190" y="1289304"/>
            <a:ext cx="315468" cy="315468"/>
          </a:xfrm>
          <a:prstGeom prst="ellipse">
            <a:avLst/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7212" y="1371326"/>
            <a:ext cx="151425" cy="1514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598664" y="1289304"/>
            <a:ext cx="104241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Hosting and checks</a:t>
            </a:r>
            <a:endParaRPr lang="en-US" sz="93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7235190" y="1693926"/>
            <a:ext cx="139217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Vercel hosting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Hardhat test scripts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150"/>
              </a:spcAft>
              <a:buSzPct val="100000"/>
              <a:buChar char="•"/>
            </a:pPr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Setup health check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438912" y="2400300"/>
            <a:ext cx="827074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Methodology and process for implementation (Flow Charts/Images/ working prototype)</a:t>
            </a:r>
            <a:endParaRPr lang="en-US" sz="11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438912" y="2688336"/>
            <a:ext cx="925830" cy="548640"/>
          </a:xfrm>
          <a:prstGeom prst="roundRect">
            <a:avLst>
              <a:gd name="adj" fmla="val 10000"/>
            </a:avLst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438912" y="2688336"/>
            <a:ext cx="9258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ADMIN</a:t>
            </a: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1467612" y="268833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71876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1536192" y="268833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Upload certificate file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7"/>
          <p:cNvSpPr/>
          <p:nvPr/>
        </p:nvSpPr>
        <p:spPr>
          <a:xfrm>
            <a:off x="3120390" y="296265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3305556" y="268833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71876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3374136" y="268833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Compute SHA-256 hash, pin file to IPFS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4958334" y="296265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5143500" y="268833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71876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5212080" y="268833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Sign voucher with an issuer (MINTER) wallet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3"/>
          <p:cNvSpPr/>
          <p:nvPr/>
        </p:nvSpPr>
        <p:spPr>
          <a:xfrm>
            <a:off x="6796278" y="296265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41" name="Shape 34"/>
          <p:cNvSpPr/>
          <p:nvPr/>
        </p:nvSpPr>
        <p:spPr>
          <a:xfrm>
            <a:off x="6981444" y="268833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71876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7050024" y="268833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Save record in Firestore + audit log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36"/>
          <p:cNvSpPr/>
          <p:nvPr/>
        </p:nvSpPr>
        <p:spPr>
          <a:xfrm>
            <a:off x="438912" y="3305556"/>
            <a:ext cx="925830" cy="548640"/>
          </a:xfrm>
          <a:prstGeom prst="roundRect">
            <a:avLst>
              <a:gd name="adj" fmla="val 10000"/>
            </a:avLst>
          </a:prstGeom>
          <a:solidFill>
            <a:srgbClr val="C9A267"/>
          </a:solidFill>
          <a:ln w="12700">
            <a:solidFill>
              <a:srgbClr val="C9A267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438912" y="3305556"/>
            <a:ext cx="9258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STUDENT</a:t>
            </a: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38"/>
          <p:cNvSpPr/>
          <p:nvPr/>
        </p:nvSpPr>
        <p:spPr>
          <a:xfrm>
            <a:off x="1467612" y="330555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67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1536192" y="330555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Press Claim NFT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0"/>
          <p:cNvSpPr/>
          <p:nvPr/>
        </p:nvSpPr>
        <p:spPr>
          <a:xfrm>
            <a:off x="3120390" y="357987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48" name="Shape 41"/>
          <p:cNvSpPr/>
          <p:nvPr/>
        </p:nvSpPr>
        <p:spPr>
          <a:xfrm>
            <a:off x="3305556" y="330555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67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3374136" y="330555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Free pre-check: revoked? already minted? voucher valid?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3"/>
          <p:cNvSpPr/>
          <p:nvPr/>
        </p:nvSpPr>
        <p:spPr>
          <a:xfrm>
            <a:off x="4958334" y="357987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51" name="Shape 44"/>
          <p:cNvSpPr/>
          <p:nvPr/>
        </p:nvSpPr>
        <p:spPr>
          <a:xfrm>
            <a:off x="5143500" y="330555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67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5212080" y="330555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Gasless payment through UGF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46"/>
          <p:cNvSpPr/>
          <p:nvPr/>
        </p:nvSpPr>
        <p:spPr>
          <a:xfrm>
            <a:off x="6796278" y="357987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54" name="Shape 47"/>
          <p:cNvSpPr/>
          <p:nvPr/>
        </p:nvSpPr>
        <p:spPr>
          <a:xfrm>
            <a:off x="6981444" y="330555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9A267"/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7050024" y="330555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Contract mints the soulbound NFT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49"/>
          <p:cNvSpPr/>
          <p:nvPr/>
        </p:nvSpPr>
        <p:spPr>
          <a:xfrm>
            <a:off x="438912" y="3922776"/>
            <a:ext cx="925830" cy="548640"/>
          </a:xfrm>
          <a:prstGeom prst="roundRect">
            <a:avLst>
              <a:gd name="adj" fmla="val 10000"/>
            </a:avLst>
          </a:prstGeom>
          <a:solidFill>
            <a:srgbClr val="2E8B63"/>
          </a:solidFill>
          <a:ln w="12700">
            <a:solidFill>
              <a:srgbClr val="2E8B63"/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438912" y="3922776"/>
            <a:ext cx="9258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VERIFIER</a:t>
            </a: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1"/>
          <p:cNvSpPr/>
          <p:nvPr/>
        </p:nvSpPr>
        <p:spPr>
          <a:xfrm>
            <a:off x="1467612" y="392277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8B63"/>
            </a:solidFill>
            <a:prstDash val="solid"/>
          </a:ln>
        </p:spPr>
      </p:sp>
      <p:sp>
        <p:nvSpPr>
          <p:cNvPr id="59" name="Text 52"/>
          <p:cNvSpPr txBox="1"/>
          <p:nvPr/>
        </p:nvSpPr>
        <p:spPr>
          <a:xfrm>
            <a:off x="1536192" y="392277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Upload file, or enter ID / wallet / QR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53"/>
          <p:cNvSpPr/>
          <p:nvPr/>
        </p:nvSpPr>
        <p:spPr>
          <a:xfrm>
            <a:off x="3120390" y="419709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61" name="Shape 54"/>
          <p:cNvSpPr/>
          <p:nvPr/>
        </p:nvSpPr>
        <p:spPr>
          <a:xfrm>
            <a:off x="3305556" y="392277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8B63"/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3374136" y="392277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Browser re-computes the SHA-256 hash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56"/>
          <p:cNvSpPr/>
          <p:nvPr/>
        </p:nvSpPr>
        <p:spPr>
          <a:xfrm>
            <a:off x="4958334" y="419709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64" name="Shape 57"/>
          <p:cNvSpPr/>
          <p:nvPr/>
        </p:nvSpPr>
        <p:spPr>
          <a:xfrm>
            <a:off x="5143500" y="392277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8B63"/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5212080" y="392277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Contract verifyHash() is called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hape 59"/>
          <p:cNvSpPr/>
          <p:nvPr/>
        </p:nvSpPr>
        <p:spPr>
          <a:xfrm>
            <a:off x="6796278" y="4197096"/>
            <a:ext cx="164592" cy="0"/>
          </a:xfrm>
          <a:prstGeom prst="line">
            <a:avLst/>
          </a:prstGeom>
          <a:noFill/>
          <a:ln w="25400">
            <a:solidFill>
              <a:srgbClr val="C9A267"/>
            </a:solidFill>
            <a:prstDash val="solid"/>
            <a:tailEnd type="triangle"/>
          </a:ln>
        </p:spPr>
      </p:sp>
      <p:sp>
        <p:nvSpPr>
          <p:cNvPr id="67" name="Shape 60"/>
          <p:cNvSpPr/>
          <p:nvPr/>
        </p:nvSpPr>
        <p:spPr>
          <a:xfrm>
            <a:off x="6981444" y="3922776"/>
            <a:ext cx="163220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8B63"/>
            </a:solidFill>
            <a:prstDash val="solid"/>
          </a:ln>
        </p:spPr>
      </p:sp>
      <p:sp>
        <p:nvSpPr>
          <p:cNvPr id="68" name="Text 61"/>
          <p:cNvSpPr txBox="1"/>
          <p:nvPr/>
        </p:nvSpPr>
        <p:spPr>
          <a:xfrm>
            <a:off x="7050024" y="3922776"/>
            <a:ext cx="14950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Authentic / Revoked / Not found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73736"/>
          </a:xfrm>
          <a:prstGeom prst="rect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0" y="0"/>
            <a:ext cx="457200" cy="411480"/>
          </a:xfrm>
          <a:prstGeom prst="line">
            <a:avLst/>
          </a:prstGeom>
          <a:noFill/>
          <a:ln w="38100">
            <a:solidFill>
              <a:srgbClr val="C9A0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645152"/>
            <a:ext cx="1554480" cy="0"/>
          </a:xfrm>
          <a:prstGeom prst="line">
            <a:avLst/>
          </a:prstGeom>
          <a:noFill/>
          <a:ln w="12700">
            <a:solidFill>
              <a:srgbClr val="C9A063"/>
            </a:solidFill>
            <a:prstDash val="solid"/>
          </a:ln>
        </p:spPr>
      </p:sp>
      <p:pic>
        <p:nvPicPr>
          <p:cNvPr id="6" name="Image 0" descr="logo_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28600"/>
            <a:ext cx="1874520" cy="676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01168"/>
            <a:ext cx="6583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2400" b="1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960120"/>
            <a:ext cx="2606040" cy="457200"/>
          </a:xfrm>
          <a:prstGeom prst="rect">
            <a:avLst/>
          </a:prstGeom>
          <a:solidFill>
            <a:srgbClr val="491776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 of the feasibility of the idea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268980" y="960120"/>
            <a:ext cx="2606040" cy="457200"/>
          </a:xfrm>
          <a:prstGeom prst="rect">
            <a:avLst/>
          </a:prstGeom>
          <a:solidFill>
            <a:srgbClr val="B3372B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Potential challenges and risks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960120"/>
            <a:ext cx="2606040" cy="45720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Strategies for overcoming these challenges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15087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72768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9808" y="1545336"/>
            <a:ext cx="2103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917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38912" y="1819656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Existing, proven tech (Ethereum-standard meta-transactions, ERC-2771) and low-cost L2 chains; no new blockchain infra.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68980" y="15087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BEDEB"/>
          </a:solidFill>
          <a:ln w="6350">
            <a:solidFill>
              <a:srgbClr val="FBEDE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342132" y="1508760"/>
            <a:ext cx="24688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Relayer service cost at scale (institution needs to fund the relayer's gas pool).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897880" y="1865376"/>
            <a:ext cx="256032" cy="246888"/>
          </a:xfrm>
          <a:prstGeom prst="rightArrow">
            <a:avLst/>
          </a:prstGeom>
          <a:solidFill>
            <a:srgbClr val="C9A063"/>
          </a:solidFill>
          <a:ln w="12700">
            <a:solidFill>
              <a:srgbClr val="C9A06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72200" y="150876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8F3E9"/>
          </a:solidFill>
          <a:ln w="6350">
            <a:solidFill>
              <a:srgbClr val="E8F3E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245352" y="1508760"/>
            <a:ext cx="24688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Tiered subscription model for institutions to cover relayer gas costs; batch-issuing (one transaction for multiple certificates) cuts gas usage further.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65760" y="2542032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06040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49808" y="2578608"/>
            <a:ext cx="2103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917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Economic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438912" y="2852928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Institution-funded relayer gas pool; no gas cost passed to students or verifiers.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268980" y="2542032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BEDEB"/>
          </a:solidFill>
          <a:ln w="6350">
            <a:solidFill>
              <a:srgbClr val="FBEDE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342132" y="2542032"/>
            <a:ext cx="24688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Onboarding institutions to digitize their certificate issuance process.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897880" y="2898648"/>
            <a:ext cx="256032" cy="246888"/>
          </a:xfrm>
          <a:prstGeom prst="rightArrow">
            <a:avLst/>
          </a:prstGeom>
          <a:solidFill>
            <a:srgbClr val="C9A063"/>
          </a:solidFill>
          <a:ln w="12700">
            <a:solidFill>
              <a:srgbClr val="C9A06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172200" y="2542032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8F3E9"/>
          </a:solidFill>
          <a:ln w="6350">
            <a:solidFill>
              <a:srgbClr val="E8F3E9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245352" y="2542032"/>
            <a:ext cx="24688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Partnering with universities for pilot rollout before full-scale deployment.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65760" y="3575304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39312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49808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9177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438912" y="3886200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Hash-only on-chain storage; QR / ID verification needs no crypto wallet.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68980" y="3575304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BEDEB"/>
          </a:solidFill>
          <a:ln w="6350">
            <a:solidFill>
              <a:srgbClr val="FBEDEB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3342132" y="3575304"/>
            <a:ext cx="24688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privacy compliance (storing only hashes on-chain, not personal data, mitigates this).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897880" y="3931920"/>
            <a:ext cx="256032" cy="246888"/>
          </a:xfrm>
          <a:prstGeom prst="rightArrow">
            <a:avLst/>
          </a:prstGeom>
          <a:solidFill>
            <a:srgbClr val="C9A063"/>
          </a:solidFill>
          <a:ln w="12700">
            <a:solidFill>
              <a:srgbClr val="C9A063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172200" y="3575304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E8F3E9"/>
          </a:solidFill>
          <a:ln w="6350">
            <a:solidFill>
              <a:srgbClr val="E8F3E9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245352" y="3575304"/>
            <a:ext cx="24688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only hashes on-chain, never personal data, to stay privacy compliant.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6060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5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IMPACT AND BENEFITS</a:t>
            </a:r>
            <a:endParaRPr lang="en-US"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38912" y="960120"/>
            <a:ext cx="8270748" cy="288036"/>
          </a:xfrm>
          <a:prstGeom prst="roundRect">
            <a:avLst>
              <a:gd name="adj" fmla="val 19048"/>
            </a:avLst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2356" y="960120"/>
            <a:ext cx="80238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Potential impact on the target audience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38912" y="1316736"/>
            <a:ext cx="2674620" cy="1179576"/>
          </a:xfrm>
          <a:prstGeom prst="roundRect">
            <a:avLst>
              <a:gd name="adj" fmla="val 4651"/>
            </a:avLst>
          </a:prstGeom>
          <a:solidFill>
            <a:srgbClr val="F5F0FA"/>
          </a:solidFill>
          <a:ln w="9525">
            <a:solidFill>
              <a:srgbClr val="E2D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782" y="1412748"/>
            <a:ext cx="342900" cy="342900"/>
          </a:xfrm>
          <a:prstGeom prst="ellipse">
            <a:avLst/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501902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73836" y="1412748"/>
            <a:ext cx="205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Students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62356" y="1851660"/>
            <a:ext cx="24551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Own a permanent, non-transferable proof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Claim with no ETH needed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Share a verified public profile with QR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36976" y="1316736"/>
            <a:ext cx="2674620" cy="1179576"/>
          </a:xfrm>
          <a:prstGeom prst="roundRect">
            <a:avLst>
              <a:gd name="adj" fmla="val 4651"/>
            </a:avLst>
          </a:prstGeom>
          <a:solidFill>
            <a:srgbClr val="F5F0FA"/>
          </a:solidFill>
          <a:ln w="9525">
            <a:solidFill>
              <a:srgbClr val="E2D6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39846" y="1412748"/>
            <a:ext cx="342900" cy="342900"/>
          </a:xfrm>
          <a:prstGeom prst="ellipse">
            <a:avLst/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501902"/>
            <a:ext cx="164592" cy="16459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71900" y="1412748"/>
            <a:ext cx="205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Colleges and admins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3360420" y="1851660"/>
            <a:ext cx="24551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Issue in bulk from a CSV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Revoke any certificate when needed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Every action saved in an audit log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035040" y="1316736"/>
            <a:ext cx="2674620" cy="1179576"/>
          </a:xfrm>
          <a:prstGeom prst="roundRect">
            <a:avLst>
              <a:gd name="adj" fmla="val 4651"/>
            </a:avLst>
          </a:prstGeom>
          <a:solidFill>
            <a:srgbClr val="F5F0FA"/>
          </a:solidFill>
          <a:ln w="9525">
            <a:solidFill>
              <a:srgbClr val="E2D6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37910" y="1412748"/>
            <a:ext cx="342900" cy="342900"/>
          </a:xfrm>
          <a:prstGeom prst="ellipse">
            <a:avLst/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1501902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69964" y="1412748"/>
            <a:ext cx="2057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Employers and verifiers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6158484" y="1851660"/>
            <a:ext cx="24551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Verify in seconds without contacting the college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See Authentic, Revoked or Not found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7175" indent="-257175">
              <a:spcAft>
                <a:spcPts val="225"/>
              </a:spcAft>
              <a:buSzPct val="100000"/>
              <a:buChar char="•"/>
            </a:pPr>
            <a:r>
              <a:rPr lang="en-US" sz="825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Keep a history of what they verified</a:t>
            </a:r>
            <a:endParaRPr 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38912" y="2592324"/>
            <a:ext cx="8270748" cy="288036"/>
          </a:xfrm>
          <a:prstGeom prst="roundRect">
            <a:avLst>
              <a:gd name="adj" fmla="val 19048"/>
            </a:avLst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62356" y="2592324"/>
            <a:ext cx="80238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Benefits of the solution (social, economic, environmental, etc.)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438912" y="2935224"/>
            <a:ext cx="2674620" cy="699516"/>
          </a:xfrm>
          <a:prstGeom prst="roundRect">
            <a:avLst>
              <a:gd name="adj" fmla="val 7843"/>
            </a:avLst>
          </a:prstGeom>
          <a:solidFill>
            <a:srgbClr val="FAF4EA"/>
          </a:solidFill>
          <a:ln w="9525">
            <a:solidFill>
              <a:srgbClr val="EBDDB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1782" y="3017520"/>
            <a:ext cx="301752" cy="301752"/>
          </a:xfrm>
          <a:prstGeom prst="ellipse">
            <a:avLst/>
          </a:prstGeom>
          <a:solidFill>
            <a:srgbClr val="C9A267"/>
          </a:solidFill>
          <a:ln w="12700">
            <a:solidFill>
              <a:srgbClr val="C9A267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238" y="3095976"/>
            <a:ext cx="144841" cy="14484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8972" y="3017520"/>
            <a:ext cx="2091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Social</a:t>
            </a: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562356" y="3346704"/>
            <a:ext cx="24551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Builds trust in credentials. Blockchain feels invisible, so no crypto knowledge is needed.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3236976" y="2935224"/>
            <a:ext cx="2674620" cy="699516"/>
          </a:xfrm>
          <a:prstGeom prst="roundRect">
            <a:avLst>
              <a:gd name="adj" fmla="val 7843"/>
            </a:avLst>
          </a:prstGeom>
          <a:solidFill>
            <a:srgbClr val="FAF4EA"/>
          </a:solidFill>
          <a:ln w="9525">
            <a:solidFill>
              <a:srgbClr val="EBDDB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339846" y="3017520"/>
            <a:ext cx="301752" cy="301752"/>
          </a:xfrm>
          <a:prstGeom prst="ellipse">
            <a:avLst/>
          </a:prstGeom>
          <a:solidFill>
            <a:srgbClr val="C9A267"/>
          </a:solidFill>
          <a:ln w="12700">
            <a:solidFill>
              <a:srgbClr val="C9A267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302" y="3095976"/>
            <a:ext cx="144841" cy="14484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3717036" y="3017520"/>
            <a:ext cx="2091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Economic</a:t>
            </a: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3360420" y="3346704"/>
            <a:ext cx="24551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gas cost for students. Bulk issuing and self-service verification cut admin effort.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6035040" y="2935224"/>
            <a:ext cx="2674620" cy="699516"/>
          </a:xfrm>
          <a:prstGeom prst="roundRect">
            <a:avLst>
              <a:gd name="adj" fmla="val 7843"/>
            </a:avLst>
          </a:prstGeom>
          <a:solidFill>
            <a:srgbClr val="FAF4EA"/>
          </a:solidFill>
          <a:ln w="9525">
            <a:solidFill>
              <a:srgbClr val="EBDDBF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137910" y="3017520"/>
            <a:ext cx="301752" cy="301752"/>
          </a:xfrm>
          <a:prstGeom prst="ellipse">
            <a:avLst/>
          </a:prstGeom>
          <a:solidFill>
            <a:srgbClr val="C9A267"/>
          </a:solidFill>
          <a:ln w="12700">
            <a:solidFill>
              <a:srgbClr val="C9A267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6366" y="3095976"/>
            <a:ext cx="144841" cy="144841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515100" y="3017520"/>
            <a:ext cx="209169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4718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Environmental</a:t>
            </a: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8"/>
          <p:cNvSpPr txBox="1"/>
          <p:nvPr/>
        </p:nvSpPr>
        <p:spPr>
          <a:xfrm>
            <a:off x="6158484" y="3346704"/>
            <a:ext cx="245516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Digital-first certificates reduce the need for printed copies.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438912" y="3737610"/>
            <a:ext cx="1131570" cy="685800"/>
          </a:xfrm>
          <a:prstGeom prst="roundRect">
            <a:avLst>
              <a:gd name="adj" fmla="val 8000"/>
            </a:avLst>
          </a:prstGeom>
          <a:solidFill>
            <a:srgbClr val="471876"/>
          </a:solidFill>
          <a:ln w="12700">
            <a:solidFill>
              <a:srgbClr val="471876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438912" y="3737610"/>
            <a:ext cx="11315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FUTURE SCOPE</a:t>
            </a:r>
            <a:endParaRPr lang="en-US" sz="9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1639062" y="3737610"/>
            <a:ext cx="1714500" cy="685800"/>
          </a:xfrm>
          <a:prstGeom prst="homePlate">
            <a:avLst/>
          </a:prstGeom>
          <a:solidFill>
            <a:srgbClr val="F5F0FA"/>
          </a:solidFill>
          <a:ln w="15875">
            <a:solidFill>
              <a:srgbClr val="C9A267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1735074" y="373761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Add to LinkedIn button on certificates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3401568" y="3737610"/>
            <a:ext cx="1714500" cy="685800"/>
          </a:xfrm>
          <a:prstGeom prst="homePlate">
            <a:avLst/>
          </a:prstGeom>
          <a:solidFill>
            <a:srgbClr val="F5F0FA"/>
          </a:solidFill>
          <a:ln w="15875">
            <a:solidFill>
              <a:srgbClr val="C9A267"/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3497580" y="373761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User validation with faculty-controlled attendance events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5164074" y="3737610"/>
            <a:ext cx="1714500" cy="685800"/>
          </a:xfrm>
          <a:prstGeom prst="homePlate">
            <a:avLst/>
          </a:prstGeom>
          <a:solidFill>
            <a:srgbClr val="F5F0FA"/>
          </a:solidFill>
          <a:ln w="15875">
            <a:solidFill>
              <a:srgbClr val="C9A267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5260086" y="373761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Marketplace of opportunities unlocked by achievements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6926580" y="3737610"/>
            <a:ext cx="1714500" cy="685800"/>
          </a:xfrm>
          <a:prstGeom prst="homePlate">
            <a:avLst/>
          </a:prstGeom>
          <a:solidFill>
            <a:srgbClr val="F5F0FA"/>
          </a:solidFill>
          <a:ln w="15875">
            <a:solidFill>
              <a:srgbClr val="C9A267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7022592" y="373761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2B2B2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Separate admin views for each college</a:t>
            </a:r>
            <a:endParaRPr lang="en-US" sz="7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73736"/>
          </a:xfrm>
          <a:prstGeom prst="rect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91456"/>
            <a:ext cx="9144000" cy="352044"/>
          </a:xfrm>
          <a:prstGeom prst="rect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0" y="0"/>
            <a:ext cx="457200" cy="411480"/>
          </a:xfrm>
          <a:prstGeom prst="line">
            <a:avLst/>
          </a:prstGeom>
          <a:noFill/>
          <a:ln w="38100">
            <a:solidFill>
              <a:srgbClr val="C9A0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645152"/>
            <a:ext cx="1554480" cy="0"/>
          </a:xfrm>
          <a:prstGeom prst="line">
            <a:avLst/>
          </a:prstGeom>
          <a:noFill/>
          <a:ln w="12700">
            <a:solidFill>
              <a:srgbClr val="C9A063"/>
            </a:solidFill>
            <a:prstDash val="solid"/>
          </a:ln>
        </p:spPr>
      </p:sp>
      <p:pic>
        <p:nvPicPr>
          <p:cNvPr id="6" name="Image 0" descr="logo_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28600"/>
            <a:ext cx="1874520" cy="676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01168"/>
            <a:ext cx="65836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Times New Roman" panose="02020603050405020304" pitchFamily="18" charset="0"/>
                <a:ea typeface="Montserrat" pitchFamily="34" charset="-122"/>
                <a:cs typeface="Times New Roman" panose="02020603050405020304" pitchFamily="18" charset="0"/>
              </a:rPr>
              <a:t>RESEARCH AND REFERENCES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365760" y="914400"/>
            <a:ext cx="45720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917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Standards &amp; documentation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23444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" y="1234440"/>
            <a:ext cx="1051560" cy="685800"/>
          </a:xfrm>
          <a:prstGeom prst="rect">
            <a:avLst/>
          </a:prstGeom>
          <a:solidFill>
            <a:srgbClr val="491776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Meta-transactions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554480" y="1234440"/>
            <a:ext cx="35204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ERC-2771 Meta Transactions Standard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u="sng" dirty="0">
                <a:solidFill>
                  <a:srgbClr val="1155C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https://eips.ethereum.org/EIPS/eip-2771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5760" y="201168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2011680"/>
            <a:ext cx="1051560" cy="685800"/>
          </a:xfrm>
          <a:prstGeom prst="rect">
            <a:avLst/>
          </a:prstGeom>
          <a:solidFill>
            <a:srgbClr val="491776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Gas relayer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1554480" y="2011680"/>
            <a:ext cx="35204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Biconomy / OpenGSN documentation on gasless transactions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u="sng" dirty="0">
                <a:solidFill>
                  <a:srgbClr val="1155C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https://docs.opengsn.org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65760" y="278892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1480" y="2788920"/>
            <a:ext cx="1051560" cy="685800"/>
          </a:xfrm>
          <a:prstGeom prst="rect">
            <a:avLst/>
          </a:prstGeom>
          <a:solidFill>
            <a:srgbClr val="491776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Low-cost chain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1554480" y="2788920"/>
            <a:ext cx="35204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Polygon official docs on low-cost transactions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u="sng" dirty="0">
                <a:solidFill>
                  <a:srgbClr val="1155C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https://docs.polygon.technology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5303520" y="914400"/>
            <a:ext cx="36576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917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Research papers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303520" y="123444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49240" y="1280160"/>
            <a:ext cx="1097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917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16 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6446520" y="1280160"/>
            <a:ext cx="22860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Mishra et al. (2020)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Certificate smart contract on Ethereum Rinkeby; gas cost measured; avg write time per certificate under proof-of-authority.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u="sng" dirty="0">
                <a:solidFill>
                  <a:srgbClr val="1155C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303520" y="246888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40680" y="2816352"/>
            <a:ext cx="457200" cy="457200"/>
          </a:xfrm>
          <a:prstGeom prst="ellipse">
            <a:avLst/>
          </a:prstGeom>
          <a:solidFill>
            <a:srgbClr val="491776"/>
          </a:solidFill>
          <a:ln w="12700">
            <a:solidFill>
              <a:srgbClr val="491776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0408" y="2926080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989320" y="2514600"/>
            <a:ext cx="27432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Gundgurti et al. (2020)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Uploaded a digital certificate file to IPFS via Remix IDE; stored its hash in a smart contract as proof of authenticity.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 txBox="1"/>
          <p:nvPr/>
        </p:nvSpPr>
        <p:spPr>
          <a:xfrm>
            <a:off x="365760" y="3657600"/>
            <a:ext cx="45720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9177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Additional resources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365760" y="39776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11480" y="3977640"/>
            <a:ext cx="2651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IPFS documentation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u="sng" dirty="0">
                <a:solidFill>
                  <a:srgbClr val="1155C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https://docs.ipfs.tech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3200400" y="39776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246120" y="3977640"/>
            <a:ext cx="2651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Biconomy docs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u="sng" dirty="0">
                <a:solidFill>
                  <a:srgbClr val="1155C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https://docs.biconomy.io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6035040" y="397764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F3EDF8"/>
          </a:solidFill>
          <a:ln w="6350">
            <a:solidFill>
              <a:srgbClr val="F3EDF8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080760" y="3977640"/>
            <a:ext cx="2651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QR + IPFS certificate verification paper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u="sng" dirty="0">
                <a:solidFill>
                  <a:srgbClr val="1155C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https://doi.org/10.23851/mjs.v35i1.1461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990</Words>
  <Application>Microsoft Office PowerPoint</Application>
  <PresentationFormat>On-screen Show (16:9)</PresentationFormat>
  <Paragraphs>148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tejaswini patil</cp:lastModifiedBy>
  <cp:revision>2</cp:revision>
  <dcterms:created xsi:type="dcterms:W3CDTF">2026-10-02T08:46:01Z</dcterms:created>
  <dcterms:modified xsi:type="dcterms:W3CDTF">2026-10-02T09:16:30Z</dcterms:modified>
</cp:coreProperties>
</file>